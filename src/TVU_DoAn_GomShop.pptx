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3" r:id="rId3"/>
    <p:sldId id="257" r:id="rId4"/>
    <p:sldId id="258" r:id="rId5"/>
    <p:sldId id="259" r:id="rId6"/>
    <p:sldId id="260" r:id="rId7"/>
    <p:sldId id="261" r:id="rId8"/>
    <p:sldId id="274" r:id="rId9"/>
    <p:sldId id="263" r:id="rId10"/>
    <p:sldId id="264" r:id="rId11"/>
    <p:sldId id="265" r:id="rId12"/>
    <p:sldId id="266" r:id="rId13"/>
    <p:sldId id="267" r:id="rId14"/>
    <p:sldId id="268" r:id="rId15"/>
    <p:sldId id="269" r:id="rId16"/>
    <p:sldId id="275" r:id="rId17"/>
    <p:sldId id="276" r:id="rId18"/>
    <p:sldId id="277" r:id="rId19"/>
    <p:sldId id="278" r:id="rId20"/>
    <p:sldId id="279" r:id="rId21"/>
    <p:sldId id="280" r:id="rId22"/>
    <p:sldId id="281" r:id="rId23"/>
    <p:sldId id="282" r:id="rId24"/>
    <p:sldId id="283" r:id="rId25"/>
    <p:sldId id="270" r:id="rId26"/>
    <p:sldId id="271" r:id="rId27"/>
    <p:sldId id="272" r:id="rId28"/>
    <p:sldId id="287"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53" userDrawn="1">
          <p15:clr>
            <a:srgbClr val="A4A3A4"/>
          </p15:clr>
        </p15:guide>
        <p15:guide id="2" pos="29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053"/>
        <p:guide pos="293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3.xml"/><Relationship Id="rId3"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svg"/><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Content Placeholder 4"/>
          <p:cNvSpPr/>
          <p:nvPr>
            <p:custDataLst>
              <p:tags r:id="rId1"/>
            </p:custDataLst>
          </p:nvPr>
        </p:nvSpPr>
        <p:spPr>
          <a:xfrm>
            <a:off x="635" y="-635"/>
            <a:ext cx="9144000" cy="6858000"/>
          </a:xfrm>
          <a:prstGeom prst="rect">
            <a:avLst/>
          </a:prstGeom>
        </p:spPr>
        <p:txBody>
          <a:bodyPr vert="horz" wrap="square" lIns="91440" tIns="45720" rIns="91440" bIns="45720" rtlCol="0">
            <a:normAutofit fontScale="6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en-US" altLang="en-US">
                <a:solidFill>
                  <a:schemeClr val="tx1"/>
                </a:solidFill>
                <a:latin typeface="Times New Roman" panose="02020603050405020304" charset="0"/>
                <a:cs typeface="Times New Roman" panose="02020603050405020304" charset="0"/>
              </a:rPr>
              <a:t>TRƯỜNG ĐẠI HỌC TRÀ VINH </a:t>
            </a:r>
            <a:endParaRPr lang="en-US" altLang="en-US">
              <a:solidFill>
                <a:schemeClr val="tx1"/>
              </a:solidFill>
              <a:latin typeface="Times New Roman" panose="02020603050405020304" charset="0"/>
              <a:cs typeface="Times New Roman" panose="02020603050405020304" charset="0"/>
            </a:endParaRPr>
          </a:p>
          <a:p>
            <a:pPr marL="0" indent="0" algn="ctr">
              <a:buNone/>
            </a:pPr>
            <a:r>
              <a:rPr lang="en-US" altLang="en-US">
                <a:solidFill>
                  <a:schemeClr val="tx1"/>
                </a:solidFill>
                <a:latin typeface="Times New Roman" panose="02020603050405020304" charset="0"/>
                <a:cs typeface="Times New Roman" panose="02020603050405020304" charset="0"/>
              </a:rPr>
              <a:t>KHOA KỸ THUẬT VÀ CÔNG NGHỆ</a:t>
            </a:r>
            <a:endParaRPr lang="en-US" altLang="en-US">
              <a:solidFill>
                <a:schemeClr val="tx1"/>
              </a:solidFill>
              <a:latin typeface="Times New Roman" panose="02020603050405020304" charset="0"/>
              <a:cs typeface="Times New Roman" panose="02020603050405020304" charset="0"/>
            </a:endParaRPr>
          </a:p>
          <a:p>
            <a:pPr marL="0" indent="0">
              <a:buNone/>
            </a:pPr>
            <a:endParaRPr lang="en-US" altLang="en-US">
              <a:solidFill>
                <a:schemeClr val="tx1"/>
              </a:solidFill>
              <a:latin typeface="Times New Roman" panose="02020603050405020304" charset="0"/>
              <a:cs typeface="Times New Roman" panose="02020603050405020304" charset="0"/>
            </a:endParaRPr>
          </a:p>
          <a:p>
            <a:pPr marL="0" indent="0">
              <a:buNone/>
            </a:pPr>
            <a:endParaRPr lang="en-US" altLang="en-US">
              <a:solidFill>
                <a:schemeClr val="tx1"/>
              </a:solidFill>
              <a:latin typeface="Times New Roman" panose="02020603050405020304" charset="0"/>
              <a:cs typeface="Times New Roman" panose="02020603050405020304" charset="0"/>
            </a:endParaRPr>
          </a:p>
          <a:p>
            <a:pPr marL="0" indent="0">
              <a:buNone/>
            </a:pPr>
            <a:endParaRPr lang="en-US" altLang="en-US">
              <a:solidFill>
                <a:schemeClr val="tx1"/>
              </a:solidFill>
              <a:latin typeface="Times New Roman" panose="02020603050405020304" charset="0"/>
              <a:cs typeface="Times New Roman" panose="02020603050405020304" charset="0"/>
            </a:endParaRPr>
          </a:p>
          <a:p>
            <a:pPr marL="0" indent="0">
              <a:buNone/>
            </a:pPr>
            <a:endParaRPr lang="en-US" altLang="en-US">
              <a:solidFill>
                <a:schemeClr val="tx1"/>
              </a:solidFill>
              <a:latin typeface="Times New Roman" panose="02020603050405020304" charset="0"/>
              <a:cs typeface="Times New Roman" panose="02020603050405020304" charset="0"/>
            </a:endParaRPr>
          </a:p>
          <a:p>
            <a:pPr marL="0" indent="0">
              <a:buNone/>
            </a:pP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ĐỒ ÁN THỰC TẬP CHUYÊN NGÀNH</a:t>
            </a:r>
            <a:endParaRPr lang="en-US" altLang="en-US">
              <a:solidFill>
                <a:schemeClr val="tx1"/>
              </a:solidFill>
              <a:latin typeface="Times New Roman" panose="02020603050405020304" charset="0"/>
              <a:cs typeface="Times New Roman" panose="02020603050405020304" charset="0"/>
            </a:endParaRPr>
          </a:p>
          <a:p>
            <a:pPr marL="0" indent="0">
              <a:buNone/>
            </a:pP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XÂY DỰNG WEBSITE MUA BÁN ĐỒ GỐM ĐÃ QUA SỬ DỤNG</a:t>
            </a:r>
            <a:endParaRPr lang="en-US" altLang="en-US">
              <a:solidFill>
                <a:schemeClr val="tx1"/>
              </a:solidFill>
              <a:latin typeface="Times New Roman" panose="02020603050405020304" charset="0"/>
              <a:cs typeface="Times New Roman" panose="02020603050405020304" charset="0"/>
            </a:endParaRPr>
          </a:p>
          <a:p>
            <a:pPr marL="0" indent="0">
              <a:buNone/>
            </a:pP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Giảng viên hướng dẫn : TH.S NGUYỄN NHẤT LAM</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Sinh viên thực hiện: NGUYÊN VĂN KIỆT</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Mã số sinh viên: 170123291</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Lớp : DX23TT10</a:t>
            </a:r>
            <a:endParaRPr lang="en-US" altLang="en-US">
              <a:solidFill>
                <a:schemeClr val="tx1"/>
              </a:solidFill>
              <a:latin typeface="Times New Roman" panose="02020603050405020304" charset="0"/>
              <a:cs typeface="Times New Roman" panose="02020603050405020304" charset="0"/>
            </a:endParaRPr>
          </a:p>
          <a:p>
            <a:pPr marL="0" indent="0">
              <a:buNone/>
            </a:pPr>
            <a:r>
              <a:rPr lang="en-US" altLang="en-US">
                <a:solidFill>
                  <a:schemeClr val="tx1"/>
                </a:solidFill>
                <a:latin typeface="Times New Roman" panose="02020603050405020304" charset="0"/>
                <a:cs typeface="Times New Roman" panose="02020603050405020304" charset="0"/>
              </a:rPr>
              <a:t>Khoá : 2023-2027</a:t>
            </a:r>
            <a:endParaRPr lang="en-US" altLang="en-US">
              <a:solidFill>
                <a:schemeClr val="tx1"/>
              </a:solidFill>
              <a:latin typeface="Times New Roman" panose="02020603050405020304" charset="0"/>
              <a:cs typeface="Times New Roman" panose="02020603050405020304" charset="0"/>
            </a:endParaRPr>
          </a:p>
          <a:p>
            <a:pPr marL="0" indent="0">
              <a:buNone/>
            </a:pPr>
            <a:endParaRPr lang="en-US" altLang="en-US">
              <a:solidFill>
                <a:schemeClr val="tx1"/>
              </a:solidFill>
              <a:latin typeface="Times New Roman" panose="02020603050405020304" charset="0"/>
              <a:cs typeface="Times New Roman" panose="02020603050405020304" charset="0"/>
            </a:endParaRPr>
          </a:p>
          <a:p>
            <a:pPr marL="0" indent="0" algn="r">
              <a:buNone/>
            </a:pPr>
            <a:r>
              <a:rPr lang="en-US" altLang="en-US">
                <a:solidFill>
                  <a:schemeClr val="tx1"/>
                </a:solidFill>
                <a:latin typeface="Times New Roman" panose="02020603050405020304" charset="0"/>
                <a:cs typeface="Times New Roman" panose="02020603050405020304" charset="0"/>
              </a:rPr>
              <a:t>Trà Vinh, tháng 5 nă</a:t>
            </a:r>
            <a:r>
              <a:rPr lang="en-US" altLang="en-US">
                <a:solidFill>
                  <a:schemeClr val="tx1"/>
                </a:solidFill>
                <a:latin typeface="Times New Roman" panose="02020603050405020304" charset="0"/>
                <a:cs typeface="Times New Roman" panose="02020603050405020304" charset="0"/>
              </a:rPr>
              <a:t>m 2026</a:t>
            </a:r>
            <a:endParaRPr lang="en-US" altLang="en-US">
              <a:solidFill>
                <a:schemeClr val="tx1"/>
              </a:solidFill>
              <a:latin typeface="Times New Roman" panose="02020603050405020304" charset="0"/>
              <a:cs typeface="Times New Roman" panose="02020603050405020304" charset="0"/>
            </a:endParaRPr>
          </a:p>
        </p:txBody>
      </p:sp>
      <p:pic>
        <p:nvPicPr>
          <p:cNvPr id="17"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a:xfrm>
            <a:off x="3894773" y="994093"/>
            <a:ext cx="1353185" cy="1353185"/>
          </a:xfrm>
          <a:prstGeom prst="rect">
            <a:avLst/>
          </a:prstGeom>
          <a:noFill/>
          <a:ln>
            <a:noFill/>
          </a:ln>
        </p:spPr>
      </p:pic>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2">
            <a:schemeClr val="accent1"/>
          </a:lnRef>
          <a:fillRef idx="0">
            <a:srgbClr val="FFFFFF"/>
          </a:fillRef>
          <a:effectRef idx="0">
            <a:srgbClr val="FFFFFF"/>
          </a:effectRef>
          <a:fontRef idx="minor">
            <a:schemeClr val="tx1"/>
          </a:fontRef>
        </p:style>
        <p:txBody>
          <a:bodyPr/>
          <a:lstStyle/>
          <a:p>
            <a:r>
              <a:rPr b="1">
                <a:latin typeface="Times New Roman" panose="02020603050405020304" charset="0"/>
                <a:cs typeface="Times New Roman" panose="02020603050405020304" charset="0"/>
              </a:rPr>
              <a:t>Giới thiệu đề tài</a:t>
            </a:r>
            <a:endParaRPr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600200"/>
            <a:ext cx="8229600" cy="5105400"/>
          </a:xfrm>
          <a:solidFill>
            <a:schemeClr val="accent5"/>
          </a:solidFill>
        </p:spPr>
        <p:txBody>
          <a:bodyPr>
            <a:noAutofit/>
            <a:scene3d>
              <a:camera prst="orthographicFront"/>
              <a:lightRig rig="threePt" dir="t"/>
            </a:scene3d>
          </a:bodyPr>
          <a:lstStyle/>
          <a:p>
            <a:pPr marL="0" indent="0">
              <a:buNone/>
            </a:pPr>
            <a:endParaRPr lang="en-US" altLang="en-US" sz="1200">
              <a:solidFill>
                <a:schemeClr val="accent1"/>
              </a:solidFill>
              <a:effectLst>
                <a:outerShdw blurRad="38100" dist="25400" dir="5400000" algn="ctr" rotWithShape="0">
                  <a:srgbClr val="6E747A">
                    <a:alpha val="43000"/>
                  </a:srgbClr>
                </a:outerShdw>
              </a:effectLst>
            </a:endParaRPr>
          </a:p>
          <a:p>
            <a:pPr marL="0" indent="0">
              <a:buNone/>
            </a:pP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Trong thời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ại công nghệ số hiện nay, hoạt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ộng mua bán trực tuyến ngày càng phát triển mạnh mẽ và trở thành xu h</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ớng phổ biến. Bên cạnh các mặt hàng mới, nhu cầu trao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ổi, mua bán các sản phẩm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ã qua sử dụng c</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ũ</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ng ngày càng gia t</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ă</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ng nhằm tiết kiệm chi phí và góp phần bảo vệ môi tr</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ờng.</a:t>
            </a:r>
            <a:endPar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marL="0" indent="0">
              <a:buNone/>
            </a:pPr>
            <a:endPar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marL="0" indent="0">
              <a:buNone/>
            </a:pP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ồ gốm là một trong những sản phẩm mang giá trị v</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ă</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 hóa, nghệ thuật và tính thẩm mỹ cao. Nhiều sản phẩm gốm c</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ũ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vẫn còn giá trị sử dụng và giá trị s</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u tầm, tuy nhiên việc mua bán hiện nay chủ yếu diễn ra thông qua các kênh mạng xã hội hoặc giao dịch trực tiếp, gây khó kh</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ă</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 trong việc tìm kiếm, quản l</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ý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và trao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ổi sản phẩm.</a:t>
            </a:r>
            <a:endPar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marL="0" indent="0">
              <a:buNone/>
            </a:pPr>
            <a:endPar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marL="0" indent="0">
              <a:buNone/>
            </a:pP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Xuất phát từ thực tế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ó, nhóm thực hiện xây dựng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ề tài **"Website Mua Bán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ồ Gốm C</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ũ"**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nhằm tạo ra một nền tảng trực tuyến hỗ trợ ng</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ời dùng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đă</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ng bán, tìm kiếm và mua các sản phẩm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ồ gốm c</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ũ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một cách thuận tiện, nhanh chóng và hiệu quả. Hệ thống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ợc xây dựng bằng ngôn ngữ lập trình PHP kết hợp cơ sở dữ liệu MySQL, cung cấp các chức n</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ă</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ng quản l</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ý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sản phẩm, quản l</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ý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ng</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ời dùng, giỏ hàng,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ơn hàng và thống kê hoạt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ộng của hệ thống.</a:t>
            </a:r>
            <a:endPar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marL="0" indent="0">
              <a:buNone/>
            </a:pPr>
            <a:endPar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marL="0" indent="0">
              <a:buNone/>
            </a:pP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ề tài góp phần ứng dụng công nghệ thông tin vào l</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ĩ</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nh vực th</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ơng mại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iện tử,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ồng thời tạo môi tr</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ờng giao dịch thuận lợi cho những ng</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ời có nhu cầu mua bán và s</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ư</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u tầm </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ồ gốm c</a:t>
            </a:r>
            <a:r>
              <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ũ.</a:t>
            </a:r>
            <a:endPar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marL="0" indent="0">
              <a:buNone/>
            </a:pPr>
            <a:endParaRPr lang="en-US" altLang="en-US" sz="160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blinds(horizontal)">
                                      <p:cBhvr>
                                        <p:cTn id="12" dur="500"/>
                                        <p:tgtEl>
                                          <p:spTgt spid="3">
                                            <p:bg/>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build="p"/>
      <p:bldP spid="3" grpId="1" animBg="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92760" y="428625"/>
            <a:ext cx="8425180" cy="1143000"/>
          </a:xfrm>
        </p:spPr>
        <p:style>
          <a:lnRef idx="2">
            <a:schemeClr val="accent1"/>
          </a:lnRef>
          <a:fillRef idx="0">
            <a:srgbClr val="FFFFFF"/>
          </a:fillRef>
          <a:effectRef idx="0">
            <a:srgbClr val="FFFFFF"/>
          </a:effectRef>
          <a:fontRef idx="minor">
            <a:schemeClr val="tx1"/>
          </a:fontRef>
        </p:style>
        <p:txBody>
          <a:bodyPr/>
          <a:lstStyle/>
          <a:p>
            <a:r>
              <a:rPr b="1">
                <a:latin typeface="Times New Roman" panose="02020603050405020304" charset="0"/>
                <a:cs typeface="Times New Roman" panose="02020603050405020304" charset="0"/>
              </a:rPr>
              <a:t>Mục tiêu</a:t>
            </a:r>
            <a:endParaRPr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600200"/>
            <a:ext cx="8229600" cy="4525963"/>
          </a:xfrm>
        </p:spPr>
        <p:txBody>
          <a:bodyPr>
            <a:normAutofit/>
          </a:bodyPr>
          <a:lstStyle/>
          <a:p>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p:txBody>
      </p:sp>
      <p:sp>
        <p:nvSpPr>
          <p:cNvPr id="4" name="Rounded Rectangle 3"/>
          <p:cNvSpPr/>
          <p:nvPr/>
        </p:nvSpPr>
        <p:spPr>
          <a:xfrm>
            <a:off x="526415" y="1600200"/>
            <a:ext cx="8405495" cy="1746885"/>
          </a:xfrm>
          <a:prstGeom prst="roundRect">
            <a:avLst/>
          </a:prstGeom>
        </p:spPr>
        <p:style>
          <a:lnRef idx="1">
            <a:schemeClr val="accent1"/>
          </a:lnRef>
          <a:fillRef idx="3">
            <a:schemeClr val="accent1"/>
          </a:fillRef>
          <a:effectRef idx="2">
            <a:schemeClr val="accent1"/>
          </a:effectRef>
          <a:fontRef idx="minor">
            <a:schemeClr val="lt1"/>
          </a:fontRef>
        </p:style>
        <p:txBody>
          <a:bodyPr anchor="ctr" anchorCtr="0"/>
          <a:p>
            <a:pPr marL="0" indent="0">
              <a:buNone/>
            </a:pPr>
            <a:r>
              <a:rPr lang="en-US" altLang="en-US" b="1">
                <a:latin typeface="Times New Roman" panose="02020603050405020304" charset="0"/>
                <a:cs typeface="Times New Roman" panose="02020603050405020304" charset="0"/>
                <a:sym typeface="+mn-ea"/>
              </a:rPr>
              <a:t>Mục tiêu tổng quát</a:t>
            </a:r>
            <a:endParaRPr lang="en-US" altLang="en-US" b="1">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Xây dựng website mua bán đồ gốm cũ trực tuyến nhằm hỗ trợ người dùng đăng bán, tìm kiếm và mua các sản phẩm đồ gốm cũ một cách thuận tiện, nhanh chóng và hiệu quả. Đồng thời hỗ trợ quản lý sản phẩm, đơn hàng và người dùng trên cùng một hệ thống.</a:t>
            </a:r>
            <a:endParaRPr lang="en-US" altLang="en-US">
              <a:latin typeface="Times New Roman" panose="02020603050405020304" charset="0"/>
              <a:cs typeface="Times New Roman" panose="02020603050405020304" charset="0"/>
            </a:endParaRPr>
          </a:p>
          <a:p>
            <a:endParaRPr lang="en-US"/>
          </a:p>
        </p:txBody>
      </p:sp>
      <p:sp>
        <p:nvSpPr>
          <p:cNvPr id="9" name="Round Single Corner Rectangle 8"/>
          <p:cNvSpPr/>
          <p:nvPr/>
        </p:nvSpPr>
        <p:spPr>
          <a:xfrm>
            <a:off x="522605" y="3312795"/>
            <a:ext cx="8369935" cy="3298825"/>
          </a:xfrm>
          <a:prstGeom prst="round1Rect">
            <a:avLst/>
          </a:prstGeom>
        </p:spPr>
        <p:style>
          <a:lnRef idx="1">
            <a:schemeClr val="accent1"/>
          </a:lnRef>
          <a:fillRef idx="3">
            <a:schemeClr val="accent1"/>
          </a:fillRef>
          <a:effectRef idx="2">
            <a:schemeClr val="accent1"/>
          </a:effectRef>
          <a:fontRef idx="minor">
            <a:schemeClr val="lt1"/>
          </a:fontRef>
        </p:style>
        <p:txBody>
          <a:bodyPr anchor="ctr" anchorCtr="0"/>
          <a:p>
            <a:pPr marL="0" indent="0">
              <a:buNone/>
            </a:pPr>
            <a:r>
              <a:rPr lang="en-US" altLang="en-US" b="1">
                <a:latin typeface="Times New Roman" panose="02020603050405020304" charset="0"/>
                <a:cs typeface="Times New Roman" panose="02020603050405020304" charset="0"/>
                <a:sym typeface="+mn-ea"/>
              </a:rPr>
              <a:t>Mục tiêu cụ thể</a:t>
            </a:r>
            <a:endParaRPr lang="en-US" altLang="en-US" b="1">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Xây dựng hệ thống đăng ký, đăng nhập và quản lý tài khoản người dùng.</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Cho phép người dùng xem, tìm kiếm và tra cứu thông tin sản phẩm đồ gốm.</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Xây dựng chức năng giỏ hàng và đặt hàng trực tuyến.</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Hỗ trợ người bán đăng tải, chỉnh sửa và quản lý sản phẩm.</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Xây dựng chức năng quản lý đơn hàng và theo dõi trạng thái đơn hàng.</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Xây dựng trang quản trị giúp quản lý người dùng, sản phẩm và đơn hàng.</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Thực hiện thống kê doanh thu, số lượng sản phẩm và tình hình hoạt động của hệ thống.</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Xây dựng cơ sở dữ liệu đảm bảo lưu trữ và xử lý thông tin chính xác.</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sym typeface="+mn-ea"/>
              </a:rPr>
              <a:t>Tạo giao diện thân thiện, dễ sử dụng và phù hợp với người dùng.</a:t>
            </a:r>
            <a:endParaRPr lang="en-US" altLang="en-US">
              <a:latin typeface="Times New Roman" panose="02020603050405020304" charset="0"/>
              <a:cs typeface="Times New Roman" panose="02020603050405020304" charset="0"/>
            </a:endParaRP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9" grpId="0" animBg="1"/>
      <p:bldP spid="9"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477250" cy="1143000"/>
          </a:xfrm>
        </p:spPr>
        <p:style>
          <a:lnRef idx="3">
            <a:schemeClr val="accent1"/>
          </a:lnRef>
          <a:fillRef idx="0">
            <a:srgbClr val="FFFFFF"/>
          </a:fillRef>
          <a:effectRef idx="0">
            <a:srgbClr val="FFFFFF"/>
          </a:effectRef>
          <a:fontRef idx="minor">
            <a:schemeClr val="tx1"/>
          </a:fontRef>
        </p:style>
        <p:txBody>
          <a:bodyPr/>
          <a:lstStyle/>
          <a:p>
            <a:r>
              <a:rPr b="1">
                <a:latin typeface="Times New Roman" panose="02020603050405020304" charset="0"/>
                <a:cs typeface="Times New Roman" panose="02020603050405020304" charset="0"/>
              </a:rPr>
              <a:t>Phân tích tác nhân</a:t>
            </a:r>
            <a:endParaRPr b="1">
              <a:latin typeface="Times New Roman" panose="02020603050405020304" charset="0"/>
              <a:cs typeface="Times New Roman" panose="02020603050405020304" charset="0"/>
            </a:endParaRPr>
          </a:p>
        </p:txBody>
      </p:sp>
      <p:sp>
        <p:nvSpPr>
          <p:cNvPr id="6" name="Rectangle 5"/>
          <p:cNvSpPr/>
          <p:nvPr/>
        </p:nvSpPr>
        <p:spPr>
          <a:xfrm>
            <a:off x="5184140" y="1600200"/>
            <a:ext cx="3524885" cy="453326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marL="0" indent="0">
              <a:buNone/>
            </a:pPr>
            <a:endParaRPr>
              <a:latin typeface="Times New Roman" panose="02020603050405020304" charset="0"/>
              <a:cs typeface="Times New Roman" panose="02020603050405020304" charset="0"/>
              <a:sym typeface="+mn-ea"/>
            </a:endParaRPr>
          </a:p>
          <a:p>
            <a:pPr marL="0" indent="0">
              <a:buNone/>
            </a:pPr>
            <a:endParaRPr>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r>
              <a:rPr>
                <a:latin typeface="Times New Roman" panose="02020603050405020304" charset="0"/>
                <a:cs typeface="Times New Roman" panose="02020603050405020304" charset="0"/>
                <a:sym typeface="+mn-ea"/>
              </a:rPr>
              <a:t>Đăng ký tài khoản.</a:t>
            </a:r>
            <a:endParaRPr>
              <a:latin typeface="Times New Roman" panose="02020603050405020304" charset="0"/>
              <a:cs typeface="Times New Roman" panose="02020603050405020304" charset="0"/>
            </a:endParaRPr>
          </a:p>
          <a:p>
            <a:pPr marL="285750" indent="-285750">
              <a:buFont typeface="Wingdings" panose="05000000000000000000" charset="0"/>
              <a:buChar char="ü"/>
            </a:pPr>
            <a:r>
              <a:rPr>
                <a:latin typeface="Times New Roman" panose="02020603050405020304" charset="0"/>
                <a:cs typeface="Times New Roman" panose="02020603050405020304" charset="0"/>
                <a:sym typeface="+mn-ea"/>
              </a:rPr>
              <a:t>Đăng nhập hệ thống.</a:t>
            </a:r>
            <a:endParaRPr>
              <a:latin typeface="Times New Roman" panose="02020603050405020304" charset="0"/>
              <a:cs typeface="Times New Roman" panose="02020603050405020304" charset="0"/>
            </a:endParaRPr>
          </a:p>
          <a:p>
            <a:pPr marL="285750" indent="-285750">
              <a:buFont typeface="Wingdings" panose="05000000000000000000" charset="0"/>
              <a:buChar char="ü"/>
            </a:pPr>
            <a:r>
              <a:rPr>
                <a:latin typeface="Times New Roman" panose="02020603050405020304" charset="0"/>
                <a:cs typeface="Times New Roman" panose="02020603050405020304" charset="0"/>
                <a:sym typeface="+mn-ea"/>
              </a:rPr>
              <a:t>Xem sản phẩm.</a:t>
            </a:r>
            <a:endParaRPr>
              <a:latin typeface="Times New Roman" panose="02020603050405020304" charset="0"/>
              <a:cs typeface="Times New Roman" panose="02020603050405020304" charset="0"/>
            </a:endParaRPr>
          </a:p>
          <a:p>
            <a:pPr marL="285750" indent="-285750">
              <a:buFont typeface="Wingdings" panose="05000000000000000000" charset="0"/>
              <a:buChar char="ü"/>
            </a:pPr>
            <a:r>
              <a:rPr>
                <a:latin typeface="Times New Roman" panose="02020603050405020304" charset="0"/>
                <a:cs typeface="Times New Roman" panose="02020603050405020304" charset="0"/>
                <a:sym typeface="+mn-ea"/>
              </a:rPr>
              <a:t>Tìm kiếm sản phẩm.</a:t>
            </a:r>
            <a:endParaRPr>
              <a:latin typeface="Times New Roman" panose="02020603050405020304" charset="0"/>
              <a:cs typeface="Times New Roman" panose="02020603050405020304" charset="0"/>
            </a:endParaRPr>
          </a:p>
          <a:p>
            <a:pPr marL="285750" indent="-285750">
              <a:buFont typeface="Wingdings" panose="05000000000000000000" charset="0"/>
              <a:buChar char="ü"/>
            </a:pPr>
            <a:r>
              <a:rPr>
                <a:latin typeface="Times New Roman" panose="02020603050405020304" charset="0"/>
                <a:cs typeface="Times New Roman" panose="02020603050405020304" charset="0"/>
                <a:sym typeface="+mn-ea"/>
              </a:rPr>
              <a:t>Xem chi tiết sản phẩm.</a:t>
            </a:r>
            <a:endParaRPr>
              <a:latin typeface="Times New Roman" panose="02020603050405020304" charset="0"/>
              <a:cs typeface="Times New Roman" panose="02020603050405020304" charset="0"/>
            </a:endParaRPr>
          </a:p>
          <a:p>
            <a:pPr marL="285750" indent="-285750">
              <a:buFont typeface="Wingdings" panose="05000000000000000000" charset="0"/>
              <a:buChar char="ü"/>
            </a:pPr>
            <a:r>
              <a:rPr>
                <a:latin typeface="Times New Roman" panose="02020603050405020304" charset="0"/>
                <a:cs typeface="Times New Roman" panose="02020603050405020304" charset="0"/>
                <a:sym typeface="+mn-ea"/>
              </a:rPr>
              <a:t>Thêm sản phẩm vào giỏ hàng.</a:t>
            </a:r>
            <a:endParaRPr>
              <a:latin typeface="Times New Roman" panose="02020603050405020304" charset="0"/>
              <a:cs typeface="Times New Roman" panose="02020603050405020304" charset="0"/>
            </a:endParaRPr>
          </a:p>
          <a:p>
            <a:pPr marL="285750" indent="-285750">
              <a:buFont typeface="Wingdings" panose="05000000000000000000" charset="0"/>
              <a:buChar char="ü"/>
            </a:pPr>
            <a:r>
              <a:rPr>
                <a:latin typeface="Times New Roman" panose="02020603050405020304" charset="0"/>
                <a:cs typeface="Times New Roman" panose="02020603050405020304" charset="0"/>
                <a:sym typeface="+mn-ea"/>
              </a:rPr>
              <a:t>Đặt hàng.</a:t>
            </a:r>
            <a:endParaRPr>
              <a:latin typeface="Times New Roman" panose="02020603050405020304" charset="0"/>
              <a:cs typeface="Times New Roman" panose="02020603050405020304" charset="0"/>
            </a:endParaRPr>
          </a:p>
          <a:p>
            <a:pPr marL="285750" indent="-285750">
              <a:buFont typeface="Wingdings" panose="05000000000000000000" charset="0"/>
              <a:buChar char="ü"/>
            </a:pPr>
            <a:r>
              <a:rPr>
                <a:latin typeface="Times New Roman" panose="02020603050405020304" charset="0"/>
                <a:cs typeface="Times New Roman" panose="02020603050405020304" charset="0"/>
                <a:sym typeface="+mn-ea"/>
              </a:rPr>
              <a:t>Đăng xuất.</a:t>
            </a:r>
            <a:endParaRPr lang="en-US"/>
          </a:p>
        </p:txBody>
      </p:sp>
      <p:sp>
        <p:nvSpPr>
          <p:cNvPr id="7" name="Rectangle 6"/>
          <p:cNvSpPr/>
          <p:nvPr/>
        </p:nvSpPr>
        <p:spPr>
          <a:xfrm>
            <a:off x="5184140" y="1600200"/>
            <a:ext cx="3498215" cy="67945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marL="0" indent="0" algn="ctr">
              <a:spcAft>
                <a:spcPct val="60000"/>
              </a:spcAft>
              <a:buNone/>
            </a:pPr>
            <a:r>
              <a:rPr b="1">
                <a:latin typeface="Times New Roman" panose="02020603050405020304" charset="0"/>
                <a:cs typeface="Times New Roman" panose="02020603050405020304" charset="0"/>
                <a:sym typeface="+mn-ea"/>
              </a:rPr>
              <a:t>Người dùng (User)</a:t>
            </a:r>
            <a:endParaRPr lang="en-US"/>
          </a:p>
        </p:txBody>
      </p:sp>
      <p:sp>
        <p:nvSpPr>
          <p:cNvPr id="9" name="Rectangle 8"/>
          <p:cNvSpPr/>
          <p:nvPr/>
        </p:nvSpPr>
        <p:spPr>
          <a:xfrm>
            <a:off x="671195" y="1610360"/>
            <a:ext cx="3524885" cy="453326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marL="0" indent="0">
              <a:buNone/>
            </a:pPr>
            <a:endParaRPr lang="en-US" altLang="en-US">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endParaRPr lang="en-US" altLang="en-US">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r>
              <a:rPr lang="en-US" altLang="en-US">
                <a:latin typeface="Times New Roman" panose="02020603050405020304" charset="0"/>
                <a:cs typeface="Times New Roman" panose="02020603050405020304" charset="0"/>
                <a:sym typeface="+mn-ea"/>
              </a:rPr>
              <a:t>Đă</a:t>
            </a:r>
            <a:r>
              <a:rPr lang="en-US" altLang="en-US">
                <a:latin typeface="Times New Roman" panose="02020603050405020304" charset="0"/>
                <a:cs typeface="Times New Roman" panose="02020603050405020304" charset="0"/>
                <a:sym typeface="+mn-ea"/>
              </a:rPr>
              <a:t>ng nhập hệ thống.</a:t>
            </a:r>
            <a:endParaRPr lang="en-US" altLang="en-US">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r>
              <a:rPr lang="en-US" altLang="en-US">
                <a:latin typeface="Times New Roman" panose="02020603050405020304" charset="0"/>
                <a:cs typeface="Times New Roman" panose="02020603050405020304" charset="0"/>
                <a:sym typeface="+mn-ea"/>
              </a:rPr>
              <a:t>Quản l</a:t>
            </a:r>
            <a:r>
              <a:rPr lang="en-US" altLang="en-US">
                <a:latin typeface="Times New Roman" panose="02020603050405020304" charset="0"/>
                <a:cs typeface="Times New Roman" panose="02020603050405020304" charset="0"/>
                <a:sym typeface="+mn-ea"/>
              </a:rPr>
              <a:t>ý </a:t>
            </a:r>
            <a:r>
              <a:rPr lang="en-US" altLang="en-US">
                <a:latin typeface="Times New Roman" panose="02020603050405020304" charset="0"/>
                <a:cs typeface="Times New Roman" panose="02020603050405020304" charset="0"/>
                <a:sym typeface="+mn-ea"/>
              </a:rPr>
              <a:t>ng</a:t>
            </a:r>
            <a:r>
              <a:rPr lang="en-US" altLang="en-US">
                <a:latin typeface="Times New Roman" panose="02020603050405020304" charset="0"/>
                <a:cs typeface="Times New Roman" panose="02020603050405020304" charset="0"/>
                <a:sym typeface="+mn-ea"/>
              </a:rPr>
              <a:t>ư</a:t>
            </a:r>
            <a:r>
              <a:rPr lang="en-US" altLang="en-US">
                <a:latin typeface="Times New Roman" panose="02020603050405020304" charset="0"/>
                <a:cs typeface="Times New Roman" panose="02020603050405020304" charset="0"/>
                <a:sym typeface="+mn-ea"/>
              </a:rPr>
              <a:t>ời dùng.</a:t>
            </a:r>
            <a:endParaRPr lang="en-US" altLang="en-US">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r>
              <a:rPr lang="en-US" altLang="en-US">
                <a:latin typeface="Times New Roman" panose="02020603050405020304" charset="0"/>
                <a:cs typeface="Times New Roman" panose="02020603050405020304" charset="0"/>
                <a:sym typeface="+mn-ea"/>
              </a:rPr>
              <a:t>Quản l</a:t>
            </a:r>
            <a:r>
              <a:rPr lang="en-US" altLang="en-US">
                <a:latin typeface="Times New Roman" panose="02020603050405020304" charset="0"/>
                <a:cs typeface="Times New Roman" panose="02020603050405020304" charset="0"/>
                <a:sym typeface="+mn-ea"/>
              </a:rPr>
              <a:t>ý </a:t>
            </a:r>
            <a:r>
              <a:rPr lang="en-US" altLang="en-US">
                <a:latin typeface="Times New Roman" panose="02020603050405020304" charset="0"/>
                <a:cs typeface="Times New Roman" panose="02020603050405020304" charset="0"/>
                <a:sym typeface="+mn-ea"/>
              </a:rPr>
              <a:t>sản phẩm.</a:t>
            </a:r>
            <a:endParaRPr lang="en-US" altLang="en-US">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r>
              <a:rPr lang="en-US" altLang="en-US">
                <a:latin typeface="Times New Roman" panose="02020603050405020304" charset="0"/>
                <a:cs typeface="Times New Roman" panose="02020603050405020304" charset="0"/>
                <a:sym typeface="+mn-ea"/>
              </a:rPr>
              <a:t>Quản l</a:t>
            </a:r>
            <a:r>
              <a:rPr lang="en-US" altLang="en-US">
                <a:latin typeface="Times New Roman" panose="02020603050405020304" charset="0"/>
                <a:cs typeface="Times New Roman" panose="02020603050405020304" charset="0"/>
                <a:sym typeface="+mn-ea"/>
              </a:rPr>
              <a:t>ý đ</a:t>
            </a:r>
            <a:r>
              <a:rPr lang="en-US" altLang="en-US">
                <a:latin typeface="Times New Roman" panose="02020603050405020304" charset="0"/>
                <a:cs typeface="Times New Roman" panose="02020603050405020304" charset="0"/>
                <a:sym typeface="+mn-ea"/>
              </a:rPr>
              <a:t>ơn hàng.</a:t>
            </a:r>
            <a:endParaRPr lang="en-US" altLang="en-US">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r>
              <a:rPr lang="en-US" altLang="en-US">
                <a:latin typeface="Times New Roman" panose="02020603050405020304" charset="0"/>
                <a:cs typeface="Times New Roman" panose="02020603050405020304" charset="0"/>
                <a:sym typeface="+mn-ea"/>
              </a:rPr>
              <a:t>Thống kê doanh thu.</a:t>
            </a:r>
            <a:endParaRPr lang="en-US" altLang="en-US">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r>
              <a:rPr lang="en-US" altLang="en-US">
                <a:latin typeface="Times New Roman" panose="02020603050405020304" charset="0"/>
                <a:cs typeface="Times New Roman" panose="02020603050405020304" charset="0"/>
                <a:sym typeface="+mn-ea"/>
              </a:rPr>
              <a:t>Thống kê sản phẩm bán chạy.</a:t>
            </a:r>
            <a:endParaRPr lang="en-US" altLang="en-US">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r>
              <a:rPr lang="en-US" altLang="en-US">
                <a:latin typeface="Times New Roman" panose="02020603050405020304" charset="0"/>
                <a:cs typeface="Times New Roman" panose="02020603050405020304" charset="0"/>
                <a:sym typeface="+mn-ea"/>
              </a:rPr>
              <a:t>Quản l</a:t>
            </a:r>
            <a:r>
              <a:rPr lang="en-US" altLang="en-US">
                <a:latin typeface="Times New Roman" panose="02020603050405020304" charset="0"/>
                <a:cs typeface="Times New Roman" panose="02020603050405020304" charset="0"/>
                <a:sym typeface="+mn-ea"/>
              </a:rPr>
              <a:t>ý </a:t>
            </a:r>
            <a:r>
              <a:rPr lang="en-US" altLang="en-US">
                <a:latin typeface="Times New Roman" panose="02020603050405020304" charset="0"/>
                <a:cs typeface="Times New Roman" panose="02020603050405020304" charset="0"/>
                <a:sym typeface="+mn-ea"/>
              </a:rPr>
              <a:t>danh mục sản phẩm.</a:t>
            </a:r>
            <a:endParaRPr lang="en-US" altLang="en-US">
              <a:latin typeface="Times New Roman" panose="02020603050405020304" charset="0"/>
              <a:cs typeface="Times New Roman" panose="02020603050405020304" charset="0"/>
              <a:sym typeface="+mn-ea"/>
            </a:endParaRPr>
          </a:p>
          <a:p>
            <a:pPr marL="285750" indent="-285750">
              <a:buFont typeface="Wingdings" panose="05000000000000000000" charset="0"/>
              <a:buChar char="ü"/>
            </a:pPr>
            <a:r>
              <a:rPr lang="en-US" altLang="en-US">
                <a:latin typeface="Times New Roman" panose="02020603050405020304" charset="0"/>
                <a:cs typeface="Times New Roman" panose="02020603050405020304" charset="0"/>
                <a:sym typeface="+mn-ea"/>
              </a:rPr>
              <a:t>Đă</a:t>
            </a:r>
            <a:r>
              <a:rPr lang="en-US" altLang="en-US">
                <a:latin typeface="Times New Roman" panose="02020603050405020304" charset="0"/>
                <a:cs typeface="Times New Roman" panose="02020603050405020304" charset="0"/>
                <a:sym typeface="+mn-ea"/>
              </a:rPr>
              <a:t>ng xuất.</a:t>
            </a:r>
            <a:endParaRPr lang="en-US" altLang="en-US">
              <a:latin typeface="Times New Roman" panose="02020603050405020304" charset="0"/>
              <a:cs typeface="Times New Roman" panose="02020603050405020304" charset="0"/>
              <a:sym typeface="+mn-ea"/>
            </a:endParaRPr>
          </a:p>
        </p:txBody>
      </p:sp>
      <p:sp>
        <p:nvSpPr>
          <p:cNvPr id="10" name="Rectangle 9"/>
          <p:cNvSpPr/>
          <p:nvPr/>
        </p:nvSpPr>
        <p:spPr>
          <a:xfrm>
            <a:off x="671195" y="1610360"/>
            <a:ext cx="3498215" cy="67945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marL="0" indent="0" algn="ctr">
              <a:spcAft>
                <a:spcPct val="60000"/>
              </a:spcAft>
              <a:buNone/>
            </a:pPr>
            <a:r>
              <a:rPr lang="en-US" b="1">
                <a:latin typeface="Times New Roman" panose="02020603050405020304" charset="0"/>
                <a:cs typeface="Times New Roman" panose="02020603050405020304" charset="0"/>
                <a:sym typeface="+mn-ea"/>
              </a:rPr>
              <a:t>Quản trị</a:t>
            </a:r>
            <a:r>
              <a:rPr b="1">
                <a:latin typeface="Times New Roman" panose="02020603050405020304" charset="0"/>
                <a:cs typeface="Times New Roman" panose="02020603050405020304" charset="0"/>
                <a:sym typeface="+mn-ea"/>
              </a:rPr>
              <a:t>(</a:t>
            </a:r>
            <a:r>
              <a:rPr lang="en-US" b="1">
                <a:latin typeface="Times New Roman" panose="02020603050405020304" charset="0"/>
                <a:cs typeface="Times New Roman" panose="02020603050405020304" charset="0"/>
                <a:sym typeface="+mn-ea"/>
              </a:rPr>
              <a:t>admin</a:t>
            </a:r>
            <a:r>
              <a:rPr b="1">
                <a:latin typeface="Times New Roman" panose="02020603050405020304" charset="0"/>
                <a:cs typeface="Times New Roman" panose="02020603050405020304" charset="0"/>
                <a:sym typeface="+mn-ea"/>
              </a:rPr>
              <a:t>)</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ircle(in)">
                                      <p:cBhvr>
                                        <p:cTn id="12" dur="2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heckerboard(across)">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10" grpId="0" animBg="1"/>
      <p:bldP spid="10" grpId="1" animBg="1"/>
      <p:bldP spid="9" grpId="0" animBg="1"/>
      <p:bldP spid="9" grpId="1" animBg="1"/>
      <p:bldP spid="7" grpId="0" animBg="1"/>
      <p:bldP spid="7" grpId="1" animBg="1"/>
      <p:bldP spid="6" grpId="0" animBg="1"/>
      <p:bldP spid="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927100"/>
          </a:xfrm>
        </p:spPr>
        <p:style>
          <a:lnRef idx="3">
            <a:schemeClr val="accent5"/>
          </a:lnRef>
          <a:fillRef idx="0">
            <a:srgbClr val="FFFFFF"/>
          </a:fillRef>
          <a:effectRef idx="0">
            <a:srgbClr val="FFFFFF"/>
          </a:effectRef>
          <a:fontRef idx="minor">
            <a:schemeClr val="tx1"/>
          </a:fontRef>
        </p:style>
        <p:txBody>
          <a:bodyPr/>
          <a:lstStyle/>
          <a:p>
            <a:r>
              <a:rPr b="1">
                <a:latin typeface="Times New Roman" panose="02020603050405020304" charset="0"/>
                <a:cs typeface="Times New Roman" panose="02020603050405020304" charset="0"/>
              </a:rPr>
              <a:t>Use Case</a:t>
            </a:r>
            <a:endParaRPr b="1">
              <a:latin typeface="Times New Roman" panose="02020603050405020304" charset="0"/>
              <a:cs typeface="Times New Roman" panose="02020603050405020304" charset="0"/>
            </a:endParaRPr>
          </a:p>
        </p:txBody>
      </p:sp>
      <p:sp>
        <p:nvSpPr>
          <p:cNvPr id="4" name="Plaque 3"/>
          <p:cNvSpPr/>
          <p:nvPr/>
        </p:nvSpPr>
        <p:spPr>
          <a:xfrm>
            <a:off x="6985" y="3223895"/>
            <a:ext cx="1511935" cy="655320"/>
          </a:xfrm>
          <a:prstGeom prst="plaque">
            <a:avLst/>
          </a:prstGeom>
        </p:spPr>
        <p:style>
          <a:lnRef idx="1">
            <a:schemeClr val="accent1"/>
          </a:lnRef>
          <a:fillRef idx="3">
            <a:schemeClr val="accent1"/>
          </a:fillRef>
          <a:effectRef idx="2">
            <a:schemeClr val="accent1"/>
          </a:effectRef>
          <a:fontRef idx="minor">
            <a:schemeClr val="lt1"/>
          </a:fontRef>
        </p:style>
        <p:txBody>
          <a:bodyPr/>
          <a:p>
            <a:r>
              <a:rPr lang="en-US"/>
              <a:t>Người dùng</a:t>
            </a:r>
            <a:endParaRPr lang="en-US"/>
          </a:p>
        </p:txBody>
      </p:sp>
      <p:sp>
        <p:nvSpPr>
          <p:cNvPr id="5" name="Plaque 4"/>
          <p:cNvSpPr/>
          <p:nvPr/>
        </p:nvSpPr>
        <p:spPr>
          <a:xfrm>
            <a:off x="1920240" y="1366520"/>
            <a:ext cx="2420620"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a:latin typeface="Times New Roman" panose="02020603050405020304" charset="0"/>
                <a:cs typeface="Times New Roman" panose="02020603050405020304" charset="0"/>
                <a:sym typeface="+mn-ea"/>
              </a:rPr>
              <a:t>Đăng ký tài khoản.</a:t>
            </a:r>
            <a:endParaRPr lang="en-US"/>
          </a:p>
        </p:txBody>
      </p:sp>
      <p:sp>
        <p:nvSpPr>
          <p:cNvPr id="6" name="Plaque 5"/>
          <p:cNvSpPr/>
          <p:nvPr/>
        </p:nvSpPr>
        <p:spPr>
          <a:xfrm>
            <a:off x="1920240" y="2102485"/>
            <a:ext cx="2416810"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a:latin typeface="Times New Roman" panose="02020603050405020304" charset="0"/>
                <a:cs typeface="Times New Roman" panose="02020603050405020304" charset="0"/>
                <a:sym typeface="+mn-ea"/>
              </a:rPr>
              <a:t>Đăng nhập hệ thống.</a:t>
            </a:r>
            <a:endParaRPr>
              <a:latin typeface="Times New Roman" panose="02020603050405020304" charset="0"/>
              <a:cs typeface="Times New Roman" panose="02020603050405020304" charset="0"/>
            </a:endParaRPr>
          </a:p>
          <a:p>
            <a:endParaRPr lang="en-US"/>
          </a:p>
        </p:txBody>
      </p:sp>
      <p:sp>
        <p:nvSpPr>
          <p:cNvPr id="7" name="Plaque 6"/>
          <p:cNvSpPr/>
          <p:nvPr/>
        </p:nvSpPr>
        <p:spPr>
          <a:xfrm>
            <a:off x="1920240" y="2838450"/>
            <a:ext cx="2414270" cy="553720"/>
          </a:xfrm>
          <a:prstGeom prst="plaque">
            <a:avLst/>
          </a:prstGeom>
        </p:spPr>
        <p:style>
          <a:lnRef idx="1">
            <a:schemeClr val="accent1"/>
          </a:lnRef>
          <a:fillRef idx="3">
            <a:schemeClr val="accent1"/>
          </a:fillRef>
          <a:effectRef idx="2">
            <a:schemeClr val="accent1"/>
          </a:effectRef>
          <a:fontRef idx="minor">
            <a:schemeClr val="lt1"/>
          </a:fontRef>
        </p:style>
        <p:txBody>
          <a:bodyPr/>
          <a:p>
            <a:pPr indent="0">
              <a:buFont typeface="Wingdings" panose="05000000000000000000" charset="0"/>
              <a:buNone/>
            </a:pPr>
            <a:r>
              <a:rPr>
                <a:latin typeface="Times New Roman" panose="02020603050405020304" charset="0"/>
                <a:cs typeface="Times New Roman" panose="02020603050405020304" charset="0"/>
                <a:sym typeface="+mn-ea"/>
              </a:rPr>
              <a:t>Xem sản phẩm.</a:t>
            </a:r>
            <a:endParaRPr lang="en-US"/>
          </a:p>
        </p:txBody>
      </p:sp>
      <p:sp>
        <p:nvSpPr>
          <p:cNvPr id="8" name="Plaque 7"/>
          <p:cNvSpPr/>
          <p:nvPr/>
        </p:nvSpPr>
        <p:spPr>
          <a:xfrm>
            <a:off x="1920240" y="3516630"/>
            <a:ext cx="2406650"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a:latin typeface="Times New Roman" panose="02020603050405020304" charset="0"/>
                <a:cs typeface="Times New Roman" panose="02020603050405020304" charset="0"/>
                <a:sym typeface="+mn-ea"/>
              </a:rPr>
              <a:t>Tìm kiếm sản phẩm.</a:t>
            </a:r>
            <a:endParaRPr>
              <a:latin typeface="Times New Roman" panose="02020603050405020304" charset="0"/>
              <a:cs typeface="Times New Roman" panose="02020603050405020304" charset="0"/>
            </a:endParaRPr>
          </a:p>
          <a:p>
            <a:endParaRPr lang="en-US"/>
          </a:p>
        </p:txBody>
      </p:sp>
      <p:sp>
        <p:nvSpPr>
          <p:cNvPr id="9" name="Plaque 8"/>
          <p:cNvSpPr/>
          <p:nvPr/>
        </p:nvSpPr>
        <p:spPr>
          <a:xfrm>
            <a:off x="1920240" y="4194810"/>
            <a:ext cx="2432050"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a:latin typeface="Times New Roman" panose="02020603050405020304" charset="0"/>
                <a:cs typeface="Times New Roman" panose="02020603050405020304" charset="0"/>
                <a:sym typeface="+mn-ea"/>
              </a:rPr>
              <a:t>Xem chi tiết sản phẩm.</a:t>
            </a:r>
            <a:endParaRPr>
              <a:latin typeface="Times New Roman" panose="02020603050405020304" charset="0"/>
              <a:cs typeface="Times New Roman" panose="02020603050405020304" charset="0"/>
            </a:endParaRPr>
          </a:p>
          <a:p>
            <a:endParaRPr lang="en-US"/>
          </a:p>
        </p:txBody>
      </p:sp>
      <p:sp>
        <p:nvSpPr>
          <p:cNvPr id="10" name="Plaque 9"/>
          <p:cNvSpPr/>
          <p:nvPr/>
        </p:nvSpPr>
        <p:spPr>
          <a:xfrm>
            <a:off x="1909445" y="4930775"/>
            <a:ext cx="2400300"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a:latin typeface="Times New Roman" panose="02020603050405020304" charset="0"/>
                <a:cs typeface="Times New Roman" panose="02020603050405020304" charset="0"/>
                <a:sym typeface="+mn-ea"/>
              </a:rPr>
              <a:t>Thêm vào giỏ hàng.</a:t>
            </a:r>
            <a:endParaRPr lang="en-US"/>
          </a:p>
        </p:txBody>
      </p:sp>
      <p:sp>
        <p:nvSpPr>
          <p:cNvPr id="11" name="Plaque 10"/>
          <p:cNvSpPr/>
          <p:nvPr/>
        </p:nvSpPr>
        <p:spPr>
          <a:xfrm>
            <a:off x="1920240" y="5666740"/>
            <a:ext cx="2389505" cy="553720"/>
          </a:xfrm>
          <a:prstGeom prst="plaque">
            <a:avLst/>
          </a:prstGeom>
        </p:spPr>
        <p:style>
          <a:lnRef idx="1">
            <a:schemeClr val="accent1"/>
          </a:lnRef>
          <a:fillRef idx="3">
            <a:schemeClr val="accent1"/>
          </a:fillRef>
          <a:effectRef idx="2">
            <a:schemeClr val="accent1"/>
          </a:effectRef>
          <a:fontRef idx="minor">
            <a:schemeClr val="lt1"/>
          </a:fontRef>
        </p:style>
        <p:txBody>
          <a:bodyPr/>
          <a:p>
            <a:pPr indent="0">
              <a:buFont typeface="Wingdings" panose="05000000000000000000" charset="0"/>
              <a:buNone/>
            </a:pPr>
            <a:r>
              <a:rPr>
                <a:latin typeface="Times New Roman" panose="02020603050405020304" charset="0"/>
                <a:cs typeface="Times New Roman" panose="02020603050405020304" charset="0"/>
                <a:sym typeface="+mn-ea"/>
              </a:rPr>
              <a:t>Đặt hàng.</a:t>
            </a:r>
            <a:endParaRPr lang="en-US"/>
          </a:p>
        </p:txBody>
      </p:sp>
      <p:sp>
        <p:nvSpPr>
          <p:cNvPr id="12" name="Plaque 11"/>
          <p:cNvSpPr/>
          <p:nvPr/>
        </p:nvSpPr>
        <p:spPr>
          <a:xfrm>
            <a:off x="4434840" y="1325880"/>
            <a:ext cx="2341880"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lang="en-US" altLang="en-US">
                <a:latin typeface="Times New Roman" panose="02020603050405020304" charset="0"/>
                <a:cs typeface="Times New Roman" panose="02020603050405020304" charset="0"/>
                <a:sym typeface="+mn-ea"/>
              </a:rPr>
              <a:t>Đăng nhập hệ thống.</a:t>
            </a:r>
            <a:endParaRPr lang="en-US" altLang="en-US">
              <a:latin typeface="Times New Roman" panose="02020603050405020304" charset="0"/>
              <a:cs typeface="Times New Roman" panose="02020603050405020304" charset="0"/>
              <a:sym typeface="+mn-ea"/>
            </a:endParaRPr>
          </a:p>
          <a:p>
            <a:endParaRPr lang="en-US"/>
          </a:p>
        </p:txBody>
      </p:sp>
      <p:sp>
        <p:nvSpPr>
          <p:cNvPr id="13" name="Plaque 12"/>
          <p:cNvSpPr/>
          <p:nvPr/>
        </p:nvSpPr>
        <p:spPr>
          <a:xfrm>
            <a:off x="4425315" y="2061845"/>
            <a:ext cx="2388870"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lang="en-US" altLang="en-US">
                <a:latin typeface="Times New Roman" panose="02020603050405020304" charset="0"/>
                <a:cs typeface="Times New Roman" panose="02020603050405020304" charset="0"/>
                <a:sym typeface="+mn-ea"/>
              </a:rPr>
              <a:t>Quản lý người dùng.</a:t>
            </a:r>
            <a:endParaRPr lang="en-US" altLang="en-US">
              <a:latin typeface="Times New Roman" panose="02020603050405020304" charset="0"/>
              <a:cs typeface="Times New Roman" panose="02020603050405020304" charset="0"/>
              <a:sym typeface="+mn-ea"/>
            </a:endParaRPr>
          </a:p>
          <a:p>
            <a:endParaRPr lang="en-US"/>
          </a:p>
        </p:txBody>
      </p:sp>
      <p:sp>
        <p:nvSpPr>
          <p:cNvPr id="14" name="Plaque 13"/>
          <p:cNvSpPr/>
          <p:nvPr/>
        </p:nvSpPr>
        <p:spPr>
          <a:xfrm>
            <a:off x="4432300" y="2797810"/>
            <a:ext cx="2352040"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lang="en-US" altLang="en-US">
                <a:latin typeface="Times New Roman" panose="02020603050405020304" charset="0"/>
                <a:cs typeface="Times New Roman" panose="02020603050405020304" charset="0"/>
                <a:sym typeface="+mn-ea"/>
              </a:rPr>
              <a:t>Quản lý sản phẩm.</a:t>
            </a:r>
            <a:endParaRPr lang="en-US" altLang="en-US">
              <a:latin typeface="Times New Roman" panose="02020603050405020304" charset="0"/>
              <a:cs typeface="Times New Roman" panose="02020603050405020304" charset="0"/>
              <a:sym typeface="+mn-ea"/>
            </a:endParaRPr>
          </a:p>
          <a:p>
            <a:endParaRPr lang="en-US"/>
          </a:p>
        </p:txBody>
      </p:sp>
      <p:sp>
        <p:nvSpPr>
          <p:cNvPr id="15" name="Plaque 14"/>
          <p:cNvSpPr/>
          <p:nvPr/>
        </p:nvSpPr>
        <p:spPr>
          <a:xfrm>
            <a:off x="4435475" y="3475990"/>
            <a:ext cx="2341245" cy="553720"/>
          </a:xfrm>
          <a:prstGeom prst="plaque">
            <a:avLst/>
          </a:prstGeom>
        </p:spPr>
        <p:style>
          <a:lnRef idx="1">
            <a:schemeClr val="accent1"/>
          </a:lnRef>
          <a:fillRef idx="3">
            <a:schemeClr val="accent1"/>
          </a:fillRef>
          <a:effectRef idx="2">
            <a:schemeClr val="accent1"/>
          </a:effectRef>
          <a:fontRef idx="minor">
            <a:schemeClr val="lt1"/>
          </a:fontRef>
        </p:style>
        <p:txBody>
          <a:bodyPr/>
          <a:p>
            <a:pPr indent="0">
              <a:buFont typeface="Wingdings" panose="05000000000000000000" charset="0"/>
              <a:buNone/>
            </a:pPr>
            <a:r>
              <a:rPr lang="en-US" altLang="en-US">
                <a:latin typeface="Times New Roman" panose="02020603050405020304" charset="0"/>
                <a:cs typeface="Times New Roman" panose="02020603050405020304" charset="0"/>
                <a:sym typeface="+mn-ea"/>
              </a:rPr>
              <a:t>Quản lý đơn hàng.</a:t>
            </a:r>
            <a:endParaRPr lang="en-US"/>
          </a:p>
        </p:txBody>
      </p:sp>
      <p:sp>
        <p:nvSpPr>
          <p:cNvPr id="16" name="Plaque 15"/>
          <p:cNvSpPr/>
          <p:nvPr/>
        </p:nvSpPr>
        <p:spPr>
          <a:xfrm>
            <a:off x="4432300" y="4154170"/>
            <a:ext cx="2352040" cy="553720"/>
          </a:xfrm>
          <a:prstGeom prst="plaque">
            <a:avLst/>
          </a:prstGeom>
        </p:spPr>
        <p:style>
          <a:lnRef idx="1">
            <a:schemeClr val="accent1"/>
          </a:lnRef>
          <a:fillRef idx="3">
            <a:schemeClr val="accent1"/>
          </a:fillRef>
          <a:effectRef idx="2">
            <a:schemeClr val="accent1"/>
          </a:effectRef>
          <a:fontRef idx="minor">
            <a:schemeClr val="lt1"/>
          </a:fontRef>
        </p:style>
        <p:txBody>
          <a:bodyPr/>
          <a:p>
            <a:pPr indent="0">
              <a:buFont typeface="Wingdings" panose="05000000000000000000" charset="0"/>
              <a:buNone/>
            </a:pPr>
            <a:r>
              <a:rPr lang="en-US" altLang="en-US">
                <a:latin typeface="Times New Roman" panose="02020603050405020304" charset="0"/>
                <a:cs typeface="Times New Roman" panose="02020603050405020304" charset="0"/>
                <a:sym typeface="+mn-ea"/>
              </a:rPr>
              <a:t>Thống kê doanh thu.</a:t>
            </a:r>
            <a:endParaRPr lang="en-US"/>
          </a:p>
        </p:txBody>
      </p:sp>
      <p:sp>
        <p:nvSpPr>
          <p:cNvPr id="17" name="Plaque 16"/>
          <p:cNvSpPr/>
          <p:nvPr/>
        </p:nvSpPr>
        <p:spPr>
          <a:xfrm>
            <a:off x="4421505" y="4798060"/>
            <a:ext cx="2392680" cy="703580"/>
          </a:xfrm>
          <a:prstGeom prst="plaque">
            <a:avLst/>
          </a:prstGeom>
        </p:spPr>
        <p:style>
          <a:lnRef idx="1">
            <a:schemeClr val="accent1"/>
          </a:lnRef>
          <a:fillRef idx="3">
            <a:schemeClr val="accent1"/>
          </a:fillRef>
          <a:effectRef idx="2">
            <a:schemeClr val="accent1"/>
          </a:effectRef>
          <a:fontRef idx="minor">
            <a:schemeClr val="lt1"/>
          </a:fontRef>
        </p:style>
        <p:txBody>
          <a:bodyPr/>
          <a:p>
            <a:r>
              <a:rPr lang="en-US" altLang="en-US">
                <a:latin typeface="Times New Roman" panose="02020603050405020304" charset="0"/>
                <a:cs typeface="Times New Roman" panose="02020603050405020304" charset="0"/>
                <a:sym typeface="+mn-ea"/>
              </a:rPr>
              <a:t>Thống kê sản phẩm bán chạy</a:t>
            </a:r>
            <a:endParaRPr lang="en-US"/>
          </a:p>
        </p:txBody>
      </p:sp>
      <p:sp>
        <p:nvSpPr>
          <p:cNvPr id="18" name="Plaque 17"/>
          <p:cNvSpPr/>
          <p:nvPr/>
        </p:nvSpPr>
        <p:spPr>
          <a:xfrm>
            <a:off x="4436110" y="5591175"/>
            <a:ext cx="2339975" cy="662940"/>
          </a:xfrm>
          <a:prstGeom prst="plaque">
            <a:avLst/>
          </a:prstGeom>
        </p:spPr>
        <p:style>
          <a:lnRef idx="1">
            <a:schemeClr val="accent1"/>
          </a:lnRef>
          <a:fillRef idx="3">
            <a:schemeClr val="accent1"/>
          </a:fillRef>
          <a:effectRef idx="2">
            <a:schemeClr val="accent1"/>
          </a:effectRef>
          <a:fontRef idx="minor">
            <a:schemeClr val="lt1"/>
          </a:fontRef>
        </p:style>
        <p:txBody>
          <a:bodyPr/>
          <a:p>
            <a:pPr marL="285750" indent="-285750">
              <a:buFont typeface="Wingdings" panose="05000000000000000000" charset="0"/>
              <a:buChar char="ü"/>
            </a:pPr>
            <a:r>
              <a:rPr lang="en-US" altLang="en-US">
                <a:latin typeface="Times New Roman" panose="02020603050405020304" charset="0"/>
                <a:cs typeface="Times New Roman" panose="02020603050405020304" charset="0"/>
                <a:sym typeface="+mn-ea"/>
              </a:rPr>
              <a:t>Quản lý danh mục sản phẩm.</a:t>
            </a:r>
            <a:endParaRPr lang="en-US"/>
          </a:p>
        </p:txBody>
      </p:sp>
      <p:sp>
        <p:nvSpPr>
          <p:cNvPr id="19" name="Plaque 18"/>
          <p:cNvSpPr/>
          <p:nvPr/>
        </p:nvSpPr>
        <p:spPr>
          <a:xfrm>
            <a:off x="4436110" y="6362065"/>
            <a:ext cx="2339975"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lang="en-US" altLang="en-US">
                <a:latin typeface="Times New Roman" panose="02020603050405020304" charset="0"/>
                <a:cs typeface="Times New Roman" panose="02020603050405020304" charset="0"/>
                <a:sym typeface="+mn-ea"/>
              </a:rPr>
              <a:t>Đăng xuất.</a:t>
            </a:r>
            <a:endParaRPr lang="en-US" altLang="en-US">
              <a:latin typeface="Times New Roman" panose="02020603050405020304" charset="0"/>
              <a:cs typeface="Times New Roman" panose="02020603050405020304" charset="0"/>
              <a:sym typeface="+mn-ea"/>
            </a:endParaRPr>
          </a:p>
          <a:p>
            <a:endParaRPr lang="en-US"/>
          </a:p>
        </p:txBody>
      </p:sp>
      <p:sp>
        <p:nvSpPr>
          <p:cNvPr id="20" name="Plaque 19"/>
          <p:cNvSpPr/>
          <p:nvPr/>
        </p:nvSpPr>
        <p:spPr>
          <a:xfrm>
            <a:off x="7458075" y="3391535"/>
            <a:ext cx="1685925" cy="655320"/>
          </a:xfrm>
          <a:prstGeom prst="plaque">
            <a:avLst/>
          </a:prstGeom>
        </p:spPr>
        <p:style>
          <a:lnRef idx="1">
            <a:schemeClr val="accent1"/>
          </a:lnRef>
          <a:fillRef idx="3">
            <a:schemeClr val="accent1"/>
          </a:fillRef>
          <a:effectRef idx="2">
            <a:schemeClr val="accent1"/>
          </a:effectRef>
          <a:fontRef idx="minor">
            <a:schemeClr val="lt1"/>
          </a:fontRef>
        </p:style>
        <p:txBody>
          <a:bodyPr/>
          <a:p>
            <a:r>
              <a:rPr lang="en-US"/>
              <a:t>Quản trị</a:t>
            </a:r>
            <a:endParaRPr lang="en-US"/>
          </a:p>
        </p:txBody>
      </p:sp>
      <p:cxnSp>
        <p:nvCxnSpPr>
          <p:cNvPr id="22" name="Straight Connector 21"/>
          <p:cNvCxnSpPr>
            <a:stCxn id="20" idx="1"/>
            <a:endCxn id="12" idx="3"/>
          </p:cNvCxnSpPr>
          <p:nvPr/>
        </p:nvCxnSpPr>
        <p:spPr>
          <a:xfrm flipH="1" flipV="1">
            <a:off x="6776720" y="1602740"/>
            <a:ext cx="681355" cy="2116455"/>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20" idx="1"/>
            <a:endCxn id="13" idx="3"/>
          </p:cNvCxnSpPr>
          <p:nvPr/>
        </p:nvCxnSpPr>
        <p:spPr>
          <a:xfrm flipH="1" flipV="1">
            <a:off x="6814185" y="2338705"/>
            <a:ext cx="643890" cy="138049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a:endCxn id="14" idx="3"/>
          </p:cNvCxnSpPr>
          <p:nvPr/>
        </p:nvCxnSpPr>
        <p:spPr>
          <a:xfrm flipH="1" flipV="1">
            <a:off x="6784340" y="3074670"/>
            <a:ext cx="673735" cy="644525"/>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a:endCxn id="15" idx="3"/>
          </p:cNvCxnSpPr>
          <p:nvPr/>
        </p:nvCxnSpPr>
        <p:spPr>
          <a:xfrm flipH="1">
            <a:off x="6776720" y="3719195"/>
            <a:ext cx="681355" cy="33655"/>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p:cNvCxnSpPr>
            <a:endCxn id="16" idx="3"/>
          </p:cNvCxnSpPr>
          <p:nvPr/>
        </p:nvCxnSpPr>
        <p:spPr>
          <a:xfrm flipH="1">
            <a:off x="6784340" y="3719195"/>
            <a:ext cx="673735" cy="711835"/>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flipH="1">
            <a:off x="6814185" y="3752850"/>
            <a:ext cx="643890" cy="1345565"/>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a:endCxn id="18" idx="3"/>
          </p:cNvCxnSpPr>
          <p:nvPr/>
        </p:nvCxnSpPr>
        <p:spPr>
          <a:xfrm flipH="1">
            <a:off x="6776085" y="3772535"/>
            <a:ext cx="681990" cy="215011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a:endCxn id="19" idx="3"/>
          </p:cNvCxnSpPr>
          <p:nvPr/>
        </p:nvCxnSpPr>
        <p:spPr>
          <a:xfrm flipH="1">
            <a:off x="6776085" y="3752850"/>
            <a:ext cx="681990" cy="2886075"/>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4" idx="3"/>
            <a:endCxn id="5" idx="1"/>
          </p:cNvCxnSpPr>
          <p:nvPr/>
        </p:nvCxnSpPr>
        <p:spPr>
          <a:xfrm flipV="1">
            <a:off x="1518920" y="1643380"/>
            <a:ext cx="401320" cy="1908175"/>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p:cNvCxnSpPr>
            <a:stCxn id="4" idx="3"/>
            <a:endCxn id="6" idx="1"/>
          </p:cNvCxnSpPr>
          <p:nvPr/>
        </p:nvCxnSpPr>
        <p:spPr>
          <a:xfrm flipV="1">
            <a:off x="1518920" y="2379345"/>
            <a:ext cx="401320" cy="117221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a:endCxn id="7" idx="1"/>
          </p:cNvCxnSpPr>
          <p:nvPr/>
        </p:nvCxnSpPr>
        <p:spPr>
          <a:xfrm flipV="1">
            <a:off x="1518920" y="3115310"/>
            <a:ext cx="401320" cy="436245"/>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4" idx="3"/>
            <a:endCxn id="8" idx="1"/>
          </p:cNvCxnSpPr>
          <p:nvPr/>
        </p:nvCxnSpPr>
        <p:spPr>
          <a:xfrm>
            <a:off x="1518920" y="3551555"/>
            <a:ext cx="401320" cy="241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a:stCxn id="4" idx="3"/>
            <a:endCxn id="9" idx="1"/>
          </p:cNvCxnSpPr>
          <p:nvPr/>
        </p:nvCxnSpPr>
        <p:spPr>
          <a:xfrm>
            <a:off x="1518920" y="3551555"/>
            <a:ext cx="401320" cy="920115"/>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a:endCxn id="10" idx="1"/>
          </p:cNvCxnSpPr>
          <p:nvPr/>
        </p:nvCxnSpPr>
        <p:spPr>
          <a:xfrm>
            <a:off x="1508125" y="3551555"/>
            <a:ext cx="401320" cy="165608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endCxn id="11" idx="1"/>
          </p:cNvCxnSpPr>
          <p:nvPr/>
        </p:nvCxnSpPr>
        <p:spPr>
          <a:xfrm>
            <a:off x="1518920" y="3551555"/>
            <a:ext cx="401320" cy="2392045"/>
          </a:xfrm>
          <a:prstGeom prst="line">
            <a:avLst/>
          </a:prstGeom>
        </p:spPr>
        <p:style>
          <a:lnRef idx="2">
            <a:schemeClr val="accent1"/>
          </a:lnRef>
          <a:fillRef idx="0">
            <a:schemeClr val="accent1"/>
          </a:fillRef>
          <a:effectRef idx="1">
            <a:schemeClr val="accent1"/>
          </a:effectRef>
          <a:fontRef idx="minor">
            <a:schemeClr val="tx1"/>
          </a:fontRef>
        </p:style>
      </p:cxnSp>
      <p:sp>
        <p:nvSpPr>
          <p:cNvPr id="38" name="Plaque 37"/>
          <p:cNvSpPr/>
          <p:nvPr/>
        </p:nvSpPr>
        <p:spPr>
          <a:xfrm>
            <a:off x="1920240" y="6316345"/>
            <a:ext cx="2403475"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lang="en-US"/>
              <a:t>Đăng xuất</a:t>
            </a:r>
            <a:endParaRPr lang="en-US"/>
          </a:p>
        </p:txBody>
      </p:sp>
      <p:cxnSp>
        <p:nvCxnSpPr>
          <p:cNvPr id="39" name="Straight Connector 38"/>
          <p:cNvCxnSpPr/>
          <p:nvPr/>
        </p:nvCxnSpPr>
        <p:spPr>
          <a:xfrm>
            <a:off x="1494155" y="3537585"/>
            <a:ext cx="415290" cy="2933700"/>
          </a:xfrm>
          <a:prstGeom prst="line">
            <a:avLst/>
          </a:prstGeom>
        </p:spPr>
        <p:style>
          <a:lnRef idx="2">
            <a:schemeClr val="accent1"/>
          </a:lnRef>
          <a:fillRef idx="0">
            <a:schemeClr val="accent1"/>
          </a:fillRef>
          <a:effectRef idx="1">
            <a:schemeClr val="accent1"/>
          </a:effectRef>
          <a:fontRef idx="minor">
            <a:schemeClr val="tx1"/>
          </a:fontRef>
        </p:style>
      </p:cxnSp>
      <p:sp>
        <p:nvSpPr>
          <p:cNvPr id="3" name="Plaque 2"/>
          <p:cNvSpPr/>
          <p:nvPr/>
        </p:nvSpPr>
        <p:spPr>
          <a:xfrm>
            <a:off x="6985" y="3223895"/>
            <a:ext cx="1511935" cy="655320"/>
          </a:xfrm>
          <a:prstGeom prst="plaque">
            <a:avLst/>
          </a:prstGeom>
        </p:spPr>
        <p:style>
          <a:lnRef idx="1">
            <a:schemeClr val="accent1"/>
          </a:lnRef>
          <a:fillRef idx="3">
            <a:schemeClr val="accent1"/>
          </a:fillRef>
          <a:effectRef idx="2">
            <a:schemeClr val="accent1"/>
          </a:effectRef>
          <a:fontRef idx="minor">
            <a:schemeClr val="lt1"/>
          </a:fontRef>
        </p:style>
        <p:txBody>
          <a:bodyPr/>
          <a:p>
            <a:r>
              <a:rPr lang="en-US"/>
              <a:t>Người dùng</a:t>
            </a:r>
            <a:endParaRPr lang="en-US"/>
          </a:p>
        </p:txBody>
      </p:sp>
      <p:sp>
        <p:nvSpPr>
          <p:cNvPr id="21" name="Plaque 20"/>
          <p:cNvSpPr/>
          <p:nvPr/>
        </p:nvSpPr>
        <p:spPr>
          <a:xfrm>
            <a:off x="1920240" y="1366520"/>
            <a:ext cx="2420620" cy="553720"/>
          </a:xfrm>
          <a:prstGeom prst="plaque">
            <a:avLst/>
          </a:prstGeom>
        </p:spPr>
        <p:style>
          <a:lnRef idx="1">
            <a:schemeClr val="accent1"/>
          </a:lnRef>
          <a:fillRef idx="3">
            <a:schemeClr val="accent1"/>
          </a:fillRef>
          <a:effectRef idx="2">
            <a:schemeClr val="accent1"/>
          </a:effectRef>
          <a:fontRef idx="minor">
            <a:schemeClr val="lt1"/>
          </a:fontRef>
        </p:style>
        <p:txBody>
          <a:bodyPr/>
          <a:p>
            <a:r>
              <a:rPr>
                <a:latin typeface="Times New Roman" panose="02020603050405020304" charset="0"/>
                <a:cs typeface="Times New Roman" panose="02020603050405020304" charset="0"/>
                <a:sym typeface="+mn-ea"/>
              </a:rPr>
              <a:t>Đăng ký tài khoản.</a:t>
            </a:r>
            <a:endParaRPr lang="en-US"/>
          </a:p>
        </p:txBody>
      </p:sp>
      <p:cxnSp>
        <p:nvCxnSpPr>
          <p:cNvPr id="28" name="Straight Connector 27"/>
          <p:cNvCxnSpPr>
            <a:stCxn id="3" idx="3"/>
            <a:endCxn id="21" idx="1"/>
          </p:cNvCxnSpPr>
          <p:nvPr/>
        </p:nvCxnSpPr>
        <p:spPr>
          <a:xfrm flipV="1">
            <a:off x="1518920" y="1643380"/>
            <a:ext cx="401320" cy="190817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circle(in)">
                                      <p:cBhvr>
                                        <p:cTn id="15" dur="2000"/>
                                        <p:tgtEl>
                                          <p:spTgt spid="5"/>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ircle(in)">
                                      <p:cBhvr>
                                        <p:cTn id="18" dur="2000"/>
                                        <p:tgtEl>
                                          <p:spTgt spid="6"/>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circle(in)">
                                      <p:cBhvr>
                                        <p:cTn id="24" dur="2000"/>
                                        <p:tgtEl>
                                          <p:spTgt spid="8"/>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ircle(in)">
                                      <p:cBhvr>
                                        <p:cTn id="27" dur="2000"/>
                                        <p:tgtEl>
                                          <p:spTgt spid="9"/>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circle(in)">
                                      <p:cBhvr>
                                        <p:cTn id="30" dur="2000"/>
                                        <p:tgtEl>
                                          <p:spTgt spid="10"/>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circle(in)">
                                      <p:cBhvr>
                                        <p:cTn id="33" dur="2000"/>
                                        <p:tgtEl>
                                          <p:spTgt spid="11"/>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circle(in)">
                                      <p:cBhvr>
                                        <p:cTn id="36" dur="2000"/>
                                        <p:tgtEl>
                                          <p:spTgt spid="12"/>
                                        </p:tgtEl>
                                      </p:cBhvr>
                                    </p:animEffect>
                                  </p:childTnLst>
                                </p:cTn>
                              </p:par>
                              <p:par>
                                <p:cTn id="37" presetID="6" presetClass="entr" presetSubtype="16"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circle(in)">
                                      <p:cBhvr>
                                        <p:cTn id="39" dur="2000"/>
                                        <p:tgtEl>
                                          <p:spTgt spid="13"/>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circle(in)">
                                      <p:cBhvr>
                                        <p:cTn id="42" dur="2000"/>
                                        <p:tgtEl>
                                          <p:spTgt spid="14"/>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circle(in)">
                                      <p:cBhvr>
                                        <p:cTn id="45" dur="2000"/>
                                        <p:tgtEl>
                                          <p:spTgt spid="15"/>
                                        </p:tgtEl>
                                      </p:cBhvr>
                                    </p:animEffect>
                                  </p:childTnLst>
                                </p:cTn>
                              </p:par>
                              <p:par>
                                <p:cTn id="46" presetID="6" presetClass="entr" presetSubtype="16"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circle(in)">
                                      <p:cBhvr>
                                        <p:cTn id="48" dur="2000"/>
                                        <p:tgtEl>
                                          <p:spTgt spid="16"/>
                                        </p:tgtEl>
                                      </p:cBhvr>
                                    </p:animEffect>
                                  </p:childTnLst>
                                </p:cTn>
                              </p:par>
                              <p:par>
                                <p:cTn id="49" presetID="6" presetClass="entr" presetSubtype="16"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circle(in)">
                                      <p:cBhvr>
                                        <p:cTn id="51" dur="2000"/>
                                        <p:tgtEl>
                                          <p:spTgt spid="17"/>
                                        </p:tgtEl>
                                      </p:cBhvr>
                                    </p:animEffect>
                                  </p:childTnLst>
                                </p:cTn>
                              </p:par>
                              <p:par>
                                <p:cTn id="52" presetID="6" presetClass="entr" presetSubtype="16"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circle(in)">
                                      <p:cBhvr>
                                        <p:cTn id="54" dur="2000"/>
                                        <p:tgtEl>
                                          <p:spTgt spid="18"/>
                                        </p:tgtEl>
                                      </p:cBhvr>
                                    </p:animEffect>
                                  </p:childTnLst>
                                </p:cTn>
                              </p:par>
                              <p:par>
                                <p:cTn id="55" presetID="6" presetClass="entr" presetSubtype="16"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circle(in)">
                                      <p:cBhvr>
                                        <p:cTn id="57" dur="2000"/>
                                        <p:tgtEl>
                                          <p:spTgt spid="19"/>
                                        </p:tgtEl>
                                      </p:cBhvr>
                                    </p:animEffect>
                                  </p:childTnLst>
                                </p:cTn>
                              </p:par>
                              <p:par>
                                <p:cTn id="58" presetID="6" presetClass="entr" presetSubtype="16"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circle(in)">
                                      <p:cBhvr>
                                        <p:cTn id="60" dur="2000"/>
                                        <p:tgtEl>
                                          <p:spTgt spid="20"/>
                                        </p:tgtEl>
                                      </p:cBhvr>
                                    </p:animEffect>
                                  </p:childTnLst>
                                </p:cTn>
                              </p:par>
                              <p:par>
                                <p:cTn id="61" presetID="6" presetClass="entr" presetSubtype="16"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circle(in)">
                                      <p:cBhvr>
                                        <p:cTn id="63" dur="2000"/>
                                        <p:tgtEl>
                                          <p:spTgt spid="22"/>
                                        </p:tgtEl>
                                      </p:cBhvr>
                                    </p:animEffect>
                                  </p:childTnLst>
                                </p:cTn>
                              </p:par>
                              <p:par>
                                <p:cTn id="64" presetID="6" presetClass="entr" presetSubtype="16"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circle(in)">
                                      <p:cBhvr>
                                        <p:cTn id="66" dur="2000"/>
                                        <p:tgtEl>
                                          <p:spTgt spid="23"/>
                                        </p:tgtEl>
                                      </p:cBhvr>
                                    </p:animEffect>
                                  </p:childTnLst>
                                </p:cTn>
                              </p:par>
                              <p:par>
                                <p:cTn id="67" presetID="6" presetClass="entr" presetSubtype="16"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circle(in)">
                                      <p:cBhvr>
                                        <p:cTn id="69" dur="2000"/>
                                        <p:tgtEl>
                                          <p:spTgt spid="24"/>
                                        </p:tgtEl>
                                      </p:cBhvr>
                                    </p:animEffect>
                                  </p:childTnLst>
                                </p:cTn>
                              </p:par>
                              <p:par>
                                <p:cTn id="70" presetID="6" presetClass="entr" presetSubtype="16"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circle(in)">
                                      <p:cBhvr>
                                        <p:cTn id="72" dur="2000"/>
                                        <p:tgtEl>
                                          <p:spTgt spid="25"/>
                                        </p:tgtEl>
                                      </p:cBhvr>
                                    </p:animEffect>
                                  </p:childTnLst>
                                </p:cTn>
                              </p:par>
                              <p:par>
                                <p:cTn id="73" presetID="6" presetClass="entr" presetSubtype="16"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circle(in)">
                                      <p:cBhvr>
                                        <p:cTn id="75" dur="2000"/>
                                        <p:tgtEl>
                                          <p:spTgt spid="26"/>
                                        </p:tgtEl>
                                      </p:cBhvr>
                                    </p:animEffect>
                                  </p:childTnLst>
                                </p:cTn>
                              </p:par>
                              <p:par>
                                <p:cTn id="76" presetID="6" presetClass="entr" presetSubtype="16"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circle(in)">
                                      <p:cBhvr>
                                        <p:cTn id="78" dur="2000"/>
                                        <p:tgtEl>
                                          <p:spTgt spid="27"/>
                                        </p:tgtEl>
                                      </p:cBhvr>
                                    </p:animEffect>
                                  </p:childTnLst>
                                </p:cTn>
                              </p:par>
                              <p:par>
                                <p:cTn id="79" presetID="6" presetClass="entr" presetSubtype="16"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circle(in)">
                                      <p:cBhvr>
                                        <p:cTn id="81" dur="2000"/>
                                        <p:tgtEl>
                                          <p:spTgt spid="29"/>
                                        </p:tgtEl>
                                      </p:cBhvr>
                                    </p:animEffect>
                                  </p:childTnLst>
                                </p:cTn>
                              </p:par>
                              <p:par>
                                <p:cTn id="82" presetID="6" presetClass="entr" presetSubtype="16"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circle(in)">
                                      <p:cBhvr>
                                        <p:cTn id="84" dur="2000"/>
                                        <p:tgtEl>
                                          <p:spTgt spid="30"/>
                                        </p:tgtEl>
                                      </p:cBhvr>
                                    </p:animEffect>
                                  </p:childTnLst>
                                </p:cTn>
                              </p:par>
                              <p:par>
                                <p:cTn id="85" presetID="6" presetClass="entr" presetSubtype="16"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circle(in)">
                                      <p:cBhvr>
                                        <p:cTn id="87" dur="2000"/>
                                        <p:tgtEl>
                                          <p:spTgt spid="31"/>
                                        </p:tgtEl>
                                      </p:cBhvr>
                                    </p:animEffect>
                                  </p:childTnLst>
                                </p:cTn>
                              </p:par>
                              <p:par>
                                <p:cTn id="88" presetID="6" presetClass="entr" presetSubtype="16"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circle(in)">
                                      <p:cBhvr>
                                        <p:cTn id="90" dur="2000"/>
                                        <p:tgtEl>
                                          <p:spTgt spid="32"/>
                                        </p:tgtEl>
                                      </p:cBhvr>
                                    </p:animEffect>
                                  </p:childTnLst>
                                </p:cTn>
                              </p:par>
                              <p:par>
                                <p:cTn id="91" presetID="6" presetClass="entr" presetSubtype="16" fill="hold"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circle(in)">
                                      <p:cBhvr>
                                        <p:cTn id="93" dur="2000"/>
                                        <p:tgtEl>
                                          <p:spTgt spid="33"/>
                                        </p:tgtEl>
                                      </p:cBhvr>
                                    </p:animEffect>
                                  </p:childTnLst>
                                </p:cTn>
                              </p:par>
                              <p:par>
                                <p:cTn id="94" presetID="6" presetClass="entr" presetSubtype="16" fill="hold"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circle(in)">
                                      <p:cBhvr>
                                        <p:cTn id="96" dur="2000"/>
                                        <p:tgtEl>
                                          <p:spTgt spid="34"/>
                                        </p:tgtEl>
                                      </p:cBhvr>
                                    </p:animEffect>
                                  </p:childTnLst>
                                </p:cTn>
                              </p:par>
                              <p:par>
                                <p:cTn id="97" presetID="6" presetClass="entr" presetSubtype="16" fill="hold"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circle(in)">
                                      <p:cBhvr>
                                        <p:cTn id="99" dur="2000"/>
                                        <p:tgtEl>
                                          <p:spTgt spid="35"/>
                                        </p:tgtEl>
                                      </p:cBhvr>
                                    </p:animEffect>
                                  </p:childTnLst>
                                </p:cTn>
                              </p:par>
                              <p:par>
                                <p:cTn id="100" presetID="6" presetClass="entr" presetSubtype="16" fill="hold"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circle(in)">
                                      <p:cBhvr>
                                        <p:cTn id="102" dur="2000"/>
                                        <p:tgtEl>
                                          <p:spTgt spid="36"/>
                                        </p:tgtEl>
                                      </p:cBhvr>
                                    </p:animEffect>
                                  </p:childTnLst>
                                </p:cTn>
                              </p:par>
                              <p:par>
                                <p:cTn id="103" presetID="6" presetClass="entr" presetSubtype="16" fill="hold"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circle(in)">
                                      <p:cBhvr>
                                        <p:cTn id="105" dur="2000"/>
                                        <p:tgtEl>
                                          <p:spTgt spid="37"/>
                                        </p:tgtEl>
                                      </p:cBhvr>
                                    </p:animEffect>
                                  </p:childTnLst>
                                </p:cTn>
                              </p:par>
                              <p:par>
                                <p:cTn id="106" presetID="6" presetClass="entr" presetSubtype="16" fill="hold" grpId="0" nodeType="withEffect">
                                  <p:stCondLst>
                                    <p:cond delay="0"/>
                                  </p:stCondLst>
                                  <p:childTnLst>
                                    <p:set>
                                      <p:cBhvr>
                                        <p:cTn id="107" dur="1" fill="hold">
                                          <p:stCondLst>
                                            <p:cond delay="0"/>
                                          </p:stCondLst>
                                        </p:cTn>
                                        <p:tgtEl>
                                          <p:spTgt spid="38"/>
                                        </p:tgtEl>
                                        <p:attrNameLst>
                                          <p:attrName>style.visibility</p:attrName>
                                        </p:attrNameLst>
                                      </p:cBhvr>
                                      <p:to>
                                        <p:strVal val="visible"/>
                                      </p:to>
                                    </p:set>
                                    <p:animEffect transition="in" filter="circle(in)">
                                      <p:cBhvr>
                                        <p:cTn id="108" dur="2000"/>
                                        <p:tgtEl>
                                          <p:spTgt spid="38"/>
                                        </p:tgtEl>
                                      </p:cBhvr>
                                    </p:animEffect>
                                  </p:childTnLst>
                                </p:cTn>
                              </p:par>
                              <p:par>
                                <p:cTn id="109" presetID="6" presetClass="entr" presetSubtype="16" fill="hold"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circle(in)">
                                      <p:cBhvr>
                                        <p:cTn id="111" dur="2000"/>
                                        <p:tgtEl>
                                          <p:spTgt spid="39"/>
                                        </p:tgtEl>
                                      </p:cBhvr>
                                    </p:animEffect>
                                  </p:childTnLst>
                                </p:cTn>
                              </p:par>
                              <p:par>
                                <p:cTn id="112" presetID="6" presetClass="entr" presetSubtype="16" fill="hold" grpId="0" nodeType="withEffect">
                                  <p:stCondLst>
                                    <p:cond delay="0"/>
                                  </p:stCondLst>
                                  <p:childTnLst>
                                    <p:set>
                                      <p:cBhvr>
                                        <p:cTn id="113" dur="1" fill="hold">
                                          <p:stCondLst>
                                            <p:cond delay="0"/>
                                          </p:stCondLst>
                                        </p:cTn>
                                        <p:tgtEl>
                                          <p:spTgt spid="3"/>
                                        </p:tgtEl>
                                        <p:attrNameLst>
                                          <p:attrName>style.visibility</p:attrName>
                                        </p:attrNameLst>
                                      </p:cBhvr>
                                      <p:to>
                                        <p:strVal val="visible"/>
                                      </p:to>
                                    </p:set>
                                    <p:animEffect transition="in" filter="circle(in)">
                                      <p:cBhvr>
                                        <p:cTn id="114" dur="2000"/>
                                        <p:tgtEl>
                                          <p:spTgt spid="3"/>
                                        </p:tgtEl>
                                      </p:cBhvr>
                                    </p:animEffect>
                                  </p:childTnLst>
                                </p:cTn>
                              </p:par>
                              <p:par>
                                <p:cTn id="115" presetID="6" presetClass="entr" presetSubtype="16" fill="hold" grpId="0" nodeType="withEffect">
                                  <p:stCondLst>
                                    <p:cond delay="0"/>
                                  </p:stCondLst>
                                  <p:childTnLst>
                                    <p:set>
                                      <p:cBhvr>
                                        <p:cTn id="116" dur="1" fill="hold">
                                          <p:stCondLst>
                                            <p:cond delay="0"/>
                                          </p:stCondLst>
                                        </p:cTn>
                                        <p:tgtEl>
                                          <p:spTgt spid="21"/>
                                        </p:tgtEl>
                                        <p:attrNameLst>
                                          <p:attrName>style.visibility</p:attrName>
                                        </p:attrNameLst>
                                      </p:cBhvr>
                                      <p:to>
                                        <p:strVal val="visible"/>
                                      </p:to>
                                    </p:set>
                                    <p:animEffect transition="in" filter="circle(in)">
                                      <p:cBhvr>
                                        <p:cTn id="117" dur="2000"/>
                                        <p:tgtEl>
                                          <p:spTgt spid="21"/>
                                        </p:tgtEl>
                                      </p:cBhvr>
                                    </p:animEffect>
                                  </p:childTnLst>
                                </p:cTn>
                              </p:par>
                              <p:par>
                                <p:cTn id="118" presetID="6" presetClass="entr" presetSubtype="16" fill="hold" nodeType="withEffect">
                                  <p:stCondLst>
                                    <p:cond delay="0"/>
                                  </p:stCondLst>
                                  <p:childTnLst>
                                    <p:set>
                                      <p:cBhvr>
                                        <p:cTn id="119" dur="1" fill="hold">
                                          <p:stCondLst>
                                            <p:cond delay="0"/>
                                          </p:stCondLst>
                                        </p:cTn>
                                        <p:tgtEl>
                                          <p:spTgt spid="28"/>
                                        </p:tgtEl>
                                        <p:attrNameLst>
                                          <p:attrName>style.visibility</p:attrName>
                                        </p:attrNameLst>
                                      </p:cBhvr>
                                      <p:to>
                                        <p:strVal val="visible"/>
                                      </p:to>
                                    </p:set>
                                    <p:animEffect transition="in" filter="circle(in)">
                                      <p:cBhvr>
                                        <p:cTn id="120"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38" grpId="0" animBg="1"/>
      <p:bldP spid="3" grpId="0" animBg="1"/>
      <p:bldP spid="21" grpId="0" animBg="1"/>
      <p:bldP spid="4" grpId="1" animBg="1"/>
      <p:bldP spid="5" grpId="1" animBg="1"/>
      <p:bldP spid="6" grpId="1" animBg="1"/>
      <p:bldP spid="7" grpId="1" animBg="1"/>
      <p:bldP spid="8" grpId="1" animBg="1"/>
      <p:bldP spid="9" grpId="1" animBg="1"/>
      <p:bldP spid="10" grpId="1" animBg="1"/>
      <p:bldP spid="11" grpId="1" animBg="1"/>
      <p:bldP spid="12" grpId="1" animBg="1"/>
      <p:bldP spid="13" grpId="1" animBg="1"/>
      <p:bldP spid="14" grpId="1" animBg="1"/>
      <p:bldP spid="15" grpId="1" animBg="1"/>
      <p:bldP spid="16" grpId="1" animBg="1"/>
      <p:bldP spid="17" grpId="1" animBg="1"/>
      <p:bldP spid="18" grpId="1" animBg="1"/>
      <p:bldP spid="19" grpId="1" animBg="1"/>
      <p:bldP spid="20" grpId="1" animBg="1"/>
      <p:bldP spid="38" grpId="1" animBg="1"/>
      <p:bldP spid="3" grpId="1" animBg="1"/>
      <p:bldP spid="21"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lstStyle/>
          <a:p>
            <a:r>
              <a:rPr b="1">
                <a:latin typeface="Times New Roman" panose="02020603050405020304" charset="0"/>
                <a:cs typeface="Times New Roman" panose="02020603050405020304" charset="0"/>
              </a:rPr>
              <a:t>Kiến trúc hệ thống</a:t>
            </a:r>
            <a:endParaRPr b="1">
              <a:latin typeface="Times New Roman" panose="02020603050405020304" charset="0"/>
              <a:cs typeface="Times New Roman" panose="02020603050405020304" charset="0"/>
            </a:endParaRPr>
          </a:p>
        </p:txBody>
      </p:sp>
      <p:sp>
        <p:nvSpPr>
          <p:cNvPr id="4" name="Diagonal Corners Rounded Rectangle 3"/>
          <p:cNvSpPr/>
          <p:nvPr/>
        </p:nvSpPr>
        <p:spPr>
          <a:xfrm>
            <a:off x="1044575" y="1417955"/>
            <a:ext cx="2267585" cy="914400"/>
          </a:xfrm>
          <a:prstGeom prst="round2Diag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t>NG</a:t>
            </a:r>
            <a:r>
              <a:rPr lang="en-US" altLang="en-US"/>
              <a:t>Ư</a:t>
            </a:r>
            <a:r>
              <a:rPr lang="en-US" altLang="en-US"/>
              <a:t>ỜI D</a:t>
            </a:r>
            <a:r>
              <a:rPr lang="en-US" altLang="en-US"/>
              <a:t>Ù</a:t>
            </a:r>
            <a:r>
              <a:rPr lang="en-US" altLang="en-US"/>
              <a:t>NG  </a:t>
            </a:r>
            <a:endParaRPr lang="en-US" altLang="en-US"/>
          </a:p>
        </p:txBody>
      </p:sp>
      <p:sp>
        <p:nvSpPr>
          <p:cNvPr id="8" name="Diagonal Corners Rounded Rectangle 7"/>
          <p:cNvSpPr/>
          <p:nvPr/>
        </p:nvSpPr>
        <p:spPr>
          <a:xfrm>
            <a:off x="6057265" y="1417955"/>
            <a:ext cx="2267585" cy="914400"/>
          </a:xfrm>
          <a:prstGeom prst="round2Diag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t>QUẢN LÝ  </a:t>
            </a:r>
            <a:endParaRPr lang="en-US" altLang="en-US"/>
          </a:p>
        </p:txBody>
      </p:sp>
      <p:sp>
        <p:nvSpPr>
          <p:cNvPr id="9" name="Diagonal Corners Rounded Rectangle 8"/>
          <p:cNvSpPr/>
          <p:nvPr/>
        </p:nvSpPr>
        <p:spPr>
          <a:xfrm>
            <a:off x="2960370" y="3562350"/>
            <a:ext cx="3097530" cy="1329690"/>
          </a:xfrm>
          <a:prstGeom prst="round2Diag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t> WEBSITE PHP      </a:t>
            </a:r>
            <a:endParaRPr lang="en-US" altLang="en-US"/>
          </a:p>
          <a:p>
            <a:pPr algn="ctr"/>
            <a:r>
              <a:rPr lang="en-US" altLang="en-US"/>
              <a:t>Quản l</a:t>
            </a:r>
            <a:r>
              <a:rPr lang="en-US" altLang="en-US"/>
              <a:t>ý </a:t>
            </a:r>
            <a:r>
              <a:rPr lang="en-US" altLang="en-US"/>
              <a:t>sản phẩm  </a:t>
            </a:r>
            <a:endParaRPr lang="en-US" altLang="en-US"/>
          </a:p>
          <a:p>
            <a:pPr algn="ctr"/>
            <a:r>
              <a:rPr lang="en-US" altLang="en-US"/>
              <a:t>Quản l</a:t>
            </a:r>
            <a:r>
              <a:rPr lang="en-US" altLang="en-US"/>
              <a:t>ý đ</a:t>
            </a:r>
            <a:r>
              <a:rPr lang="en-US" altLang="en-US"/>
              <a:t>ơn hàng </a:t>
            </a:r>
            <a:endParaRPr lang="en-US" altLang="en-US"/>
          </a:p>
          <a:p>
            <a:pPr algn="ctr"/>
            <a:r>
              <a:rPr lang="en-US" altLang="en-US"/>
              <a:t>Giỏ hàng       </a:t>
            </a:r>
            <a:endParaRPr lang="en-US" altLang="en-US"/>
          </a:p>
        </p:txBody>
      </p:sp>
      <p:sp>
        <p:nvSpPr>
          <p:cNvPr id="10" name="Diagonal Corners Rounded Rectangle 9"/>
          <p:cNvSpPr/>
          <p:nvPr/>
        </p:nvSpPr>
        <p:spPr>
          <a:xfrm>
            <a:off x="2959735" y="5617210"/>
            <a:ext cx="3097530" cy="1075055"/>
          </a:xfrm>
          <a:prstGeom prst="round2Diag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t>MYSQL DATABASE</a:t>
            </a:r>
            <a:endParaRPr lang="en-US" altLang="en-US"/>
          </a:p>
        </p:txBody>
      </p:sp>
      <p:cxnSp>
        <p:nvCxnSpPr>
          <p:cNvPr id="11" name="Straight Connector 10"/>
          <p:cNvCxnSpPr>
            <a:stCxn id="4" idx="1"/>
          </p:cNvCxnSpPr>
          <p:nvPr/>
        </p:nvCxnSpPr>
        <p:spPr>
          <a:xfrm flipH="1">
            <a:off x="2169795" y="2332355"/>
            <a:ext cx="8890" cy="494665"/>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7186295" y="2332355"/>
            <a:ext cx="8890" cy="49466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169795" y="2827020"/>
            <a:ext cx="502539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endCxn id="9" idx="3"/>
          </p:cNvCxnSpPr>
          <p:nvPr/>
        </p:nvCxnSpPr>
        <p:spPr>
          <a:xfrm>
            <a:off x="4509135" y="2841625"/>
            <a:ext cx="0" cy="72072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4509135" y="4896485"/>
            <a:ext cx="0" cy="72072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ox(in)">
                                      <p:cBhvr>
                                        <p:cTn id="10" dur="2000"/>
                                        <p:tgtEl>
                                          <p:spTgt spid="4"/>
                                        </p:tgtEl>
                                      </p:cBhvr>
                                    </p:animEffect>
                                  </p:childTnLst>
                                </p:cTn>
                              </p:par>
                              <p:par>
                                <p:cTn id="11" presetID="4" presetClass="entr" presetSubtype="16"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ox(in)">
                                      <p:cBhvr>
                                        <p:cTn id="13" dur="2000"/>
                                        <p:tgtEl>
                                          <p:spTgt spid="11"/>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ox(in)">
                                      <p:cBhvr>
                                        <p:cTn id="16" dur="2000"/>
                                        <p:tgtEl>
                                          <p:spTgt spid="8"/>
                                        </p:tgtEl>
                                      </p:cBhvr>
                                    </p:animEffect>
                                  </p:childTnLst>
                                </p:cTn>
                              </p:par>
                              <p:par>
                                <p:cTn id="17" presetID="4" presetClass="entr" presetSubtype="16"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ox(in)">
                                      <p:cBhvr>
                                        <p:cTn id="19" dur="2000"/>
                                        <p:tgtEl>
                                          <p:spTgt spid="13"/>
                                        </p:tgtEl>
                                      </p:cBhvr>
                                    </p:animEffect>
                                  </p:childTnLst>
                                </p:cTn>
                              </p:par>
                              <p:par>
                                <p:cTn id="20" presetID="4" presetClass="entr" presetSubtype="16"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ox(in)">
                                      <p:cBhvr>
                                        <p:cTn id="22" dur="2000"/>
                                        <p:tgtEl>
                                          <p:spTgt spid="14"/>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ox(in)">
                                      <p:cBhvr>
                                        <p:cTn id="25" dur="2000"/>
                                        <p:tgtEl>
                                          <p:spTgt spid="9"/>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ox(in)">
                                      <p:cBhvr>
                                        <p:cTn id="28" dur="2000"/>
                                        <p:tgtEl>
                                          <p:spTgt spid="10"/>
                                        </p:tgtEl>
                                      </p:cBhvr>
                                    </p:animEffect>
                                  </p:childTnLst>
                                </p:cTn>
                              </p:par>
                              <p:par>
                                <p:cTn id="29" presetID="4" presetClass="entr" presetSubtype="16"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ox(in)">
                                      <p:cBhvr>
                                        <p:cTn id="31"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8" grpId="0" animBg="1"/>
      <p:bldP spid="9" grpId="0" animBg="1"/>
      <p:bldP spid="10" grpId="0" animBg="1"/>
      <p:bldP spid="2" grpId="1" animBg="1"/>
      <p:bldP spid="4" grpId="1" animBg="1"/>
      <p:bldP spid="8" grpId="1" animBg="1"/>
      <p:bldP spid="9" grpId="1" animBg="1"/>
      <p:bldP spid="10"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p>
            <a:r>
              <a:rPr b="1">
                <a:latin typeface="Times New Roman" panose="02020603050405020304" charset="0"/>
                <a:cs typeface="Times New Roman" panose="02020603050405020304" charset="0"/>
                <a:sym typeface="+mn-ea"/>
              </a:rPr>
              <a:t>CSDL </a:t>
            </a:r>
            <a:endParaRPr lang="en-US" b="1">
              <a:latin typeface="Times New Roman" panose="02020603050405020304" charset="0"/>
              <a:cs typeface="Times New Roman" panose="02020603050405020304" charset="0"/>
              <a:sym typeface="+mn-ea"/>
            </a:endParaRPr>
          </a:p>
        </p:txBody>
      </p:sp>
      <p:sp>
        <p:nvSpPr>
          <p:cNvPr id="4" name="Rectangle 3"/>
          <p:cNvSpPr/>
          <p:nvPr/>
        </p:nvSpPr>
        <p:spPr>
          <a:xfrm>
            <a:off x="457835" y="1600200"/>
            <a:ext cx="3176270" cy="249682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endParaRPr lang="en-US" altLang="en-US"/>
          </a:p>
          <a:p>
            <a:endParaRPr lang="en-US" altLang="en-US"/>
          </a:p>
          <a:p>
            <a:pPr algn="l"/>
            <a:r>
              <a:rPr lang="en-US" altLang="en-US">
                <a:latin typeface="Times New Roman" panose="02020603050405020304" charset="0"/>
                <a:cs typeface="Times New Roman" panose="02020603050405020304" charset="0"/>
              </a:rPr>
              <a:t>id (PK)             </a:t>
            </a:r>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 username            </a:t>
            </a:r>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 password            </a:t>
            </a:r>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 created_at          </a:t>
            </a:r>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 role </a:t>
            </a:r>
            <a:endParaRPr lang="en-US" altLang="en-US">
              <a:latin typeface="Times New Roman" panose="02020603050405020304" charset="0"/>
              <a:cs typeface="Times New Roman" panose="02020603050405020304" charset="0"/>
            </a:endParaRPr>
          </a:p>
        </p:txBody>
      </p:sp>
      <p:sp>
        <p:nvSpPr>
          <p:cNvPr id="5" name="Rectangle 4"/>
          <p:cNvSpPr/>
          <p:nvPr/>
        </p:nvSpPr>
        <p:spPr>
          <a:xfrm>
            <a:off x="457200" y="4385945"/>
            <a:ext cx="3176270" cy="235521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l"/>
            <a:r>
              <a:rPr lang="en-US" altLang="en-US">
                <a:latin typeface="HP-Times New Roman" panose="020B0603050302020204" charset="0"/>
                <a:cs typeface="HP-Times New Roman" panose="020B0603050302020204" charset="0"/>
              </a:rPr>
              <a:t>id (PK)             </a:t>
            </a:r>
            <a:endParaRPr lang="en-US" altLang="en-US">
              <a:latin typeface="HP-Times New Roman" panose="020B0603050302020204" charset="0"/>
              <a:cs typeface="HP-Times New Roman" panose="020B0603050302020204" charset="0"/>
            </a:endParaRPr>
          </a:p>
          <a:p>
            <a:pPr algn="l"/>
            <a:r>
              <a:rPr lang="en-US" altLang="en-US">
                <a:latin typeface="HP-Times New Roman" panose="020B0603050302020204" charset="0"/>
                <a:cs typeface="HP-Times New Roman" panose="020B0603050302020204" charset="0"/>
              </a:rPr>
              <a:t>order_id (FK)       </a:t>
            </a:r>
            <a:endParaRPr lang="en-US" altLang="en-US">
              <a:latin typeface="HP-Times New Roman" panose="020B0603050302020204" charset="0"/>
              <a:cs typeface="HP-Times New Roman" panose="020B0603050302020204" charset="0"/>
            </a:endParaRPr>
          </a:p>
          <a:p>
            <a:pPr algn="l"/>
            <a:r>
              <a:rPr lang="en-US" altLang="en-US">
                <a:latin typeface="HP-Times New Roman" panose="020B0603050302020204" charset="0"/>
                <a:cs typeface="HP-Times New Roman" panose="020B0603050302020204" charset="0"/>
              </a:rPr>
              <a:t>product_id (FK)     </a:t>
            </a:r>
            <a:endParaRPr lang="en-US" altLang="en-US">
              <a:latin typeface="HP-Times New Roman" panose="020B0603050302020204" charset="0"/>
              <a:cs typeface="HP-Times New Roman" panose="020B0603050302020204" charset="0"/>
            </a:endParaRPr>
          </a:p>
          <a:p>
            <a:pPr algn="l"/>
            <a:r>
              <a:rPr lang="en-US" altLang="en-US">
                <a:latin typeface="HP-Times New Roman" panose="020B0603050302020204" charset="0"/>
                <a:cs typeface="HP-Times New Roman" panose="020B0603050302020204" charset="0"/>
              </a:rPr>
              <a:t>qty     </a:t>
            </a:r>
            <a:r>
              <a:rPr lang="en-US" altLang="en-US"/>
              <a:t>       </a:t>
            </a:r>
            <a:endParaRPr lang="en-US"/>
          </a:p>
        </p:txBody>
      </p:sp>
      <p:sp>
        <p:nvSpPr>
          <p:cNvPr id="6" name="Rectangle 5"/>
          <p:cNvSpPr/>
          <p:nvPr/>
        </p:nvSpPr>
        <p:spPr>
          <a:xfrm>
            <a:off x="5510530" y="4385945"/>
            <a:ext cx="3176270" cy="237109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endParaRPr lang="en-US" altLang="en-US"/>
          </a:p>
          <a:p>
            <a:endParaRPr lang="en-US" altLang="en-US"/>
          </a:p>
          <a:p>
            <a:r>
              <a:rPr lang="en-US" altLang="en-US"/>
              <a:t>id (PK)             </a:t>
            </a:r>
            <a:endParaRPr lang="en-US" altLang="en-US"/>
          </a:p>
          <a:p>
            <a:r>
              <a:rPr lang="en-US" altLang="en-US"/>
              <a:t>name                </a:t>
            </a:r>
            <a:endParaRPr lang="en-US" altLang="en-US"/>
          </a:p>
          <a:p>
            <a:r>
              <a:rPr lang="en-US" altLang="en-US"/>
              <a:t>price               </a:t>
            </a:r>
            <a:endParaRPr lang="en-US" altLang="en-US"/>
          </a:p>
          <a:p>
            <a:r>
              <a:rPr lang="en-US" altLang="en-US"/>
              <a:t>image               </a:t>
            </a:r>
            <a:endParaRPr lang="en-US" altLang="en-US"/>
          </a:p>
          <a:p>
            <a:r>
              <a:rPr lang="en-US" altLang="en-US"/>
              <a:t>stock               </a:t>
            </a:r>
            <a:endParaRPr lang="en-US" altLang="en-US"/>
          </a:p>
          <a:p>
            <a:r>
              <a:rPr lang="en-US" altLang="en-US"/>
              <a:t>quantity</a:t>
            </a:r>
            <a:endParaRPr lang="en-US"/>
          </a:p>
        </p:txBody>
      </p:sp>
      <p:sp>
        <p:nvSpPr>
          <p:cNvPr id="7" name="Rectangle 6"/>
          <p:cNvSpPr/>
          <p:nvPr/>
        </p:nvSpPr>
        <p:spPr>
          <a:xfrm>
            <a:off x="5510530" y="1600200"/>
            <a:ext cx="3176270" cy="249745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l"/>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id (PK)             </a:t>
            </a:r>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customer           </a:t>
            </a:r>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created_at          </a:t>
            </a:r>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type                </a:t>
            </a:r>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phone               </a:t>
            </a:r>
            <a:endParaRPr lang="en-US" altLang="en-US">
              <a:latin typeface="Times New Roman" panose="02020603050405020304" charset="0"/>
              <a:cs typeface="Times New Roman" panose="02020603050405020304" charset="0"/>
            </a:endParaRPr>
          </a:p>
          <a:p>
            <a:pPr algn="l"/>
            <a:r>
              <a:rPr lang="en-US" altLang="en-US">
                <a:latin typeface="Times New Roman" panose="02020603050405020304" charset="0"/>
                <a:cs typeface="Times New Roman" panose="02020603050405020304" charset="0"/>
              </a:rPr>
              <a:t>status  </a:t>
            </a:r>
            <a:endParaRPr lang="en-US">
              <a:latin typeface="Times New Roman" panose="02020603050405020304" charset="0"/>
              <a:cs typeface="Times New Roman" panose="02020603050405020304" charset="0"/>
            </a:endParaRPr>
          </a:p>
        </p:txBody>
      </p:sp>
      <p:sp>
        <p:nvSpPr>
          <p:cNvPr id="8" name="Rectangle 7"/>
          <p:cNvSpPr/>
          <p:nvPr/>
        </p:nvSpPr>
        <p:spPr>
          <a:xfrm>
            <a:off x="457835" y="1600200"/>
            <a:ext cx="3161665" cy="523875"/>
          </a:xfrm>
          <a:prstGeom prst="rect">
            <a:avLst/>
          </a:prstGeom>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b="1">
                <a:latin typeface="Times New Roman" panose="02020603050405020304" charset="0"/>
                <a:cs typeface="Times New Roman" panose="02020603050405020304" charset="0"/>
                <a:sym typeface="+mn-ea"/>
              </a:rPr>
              <a:t>users</a:t>
            </a:r>
            <a:endParaRPr lang="en-US" b="1">
              <a:latin typeface="Times New Roman" panose="02020603050405020304" charset="0"/>
              <a:cs typeface="Times New Roman" panose="02020603050405020304" charset="0"/>
              <a:sym typeface="+mn-ea"/>
            </a:endParaRPr>
          </a:p>
        </p:txBody>
      </p:sp>
      <p:sp>
        <p:nvSpPr>
          <p:cNvPr id="9" name="Rectangle 8"/>
          <p:cNvSpPr/>
          <p:nvPr/>
        </p:nvSpPr>
        <p:spPr>
          <a:xfrm>
            <a:off x="5525135" y="4362450"/>
            <a:ext cx="3161665" cy="52387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b="1">
                <a:latin typeface="Times New Roman" panose="02020603050405020304" charset="0"/>
                <a:cs typeface="Times New Roman" panose="02020603050405020304" charset="0"/>
                <a:sym typeface="+mn-ea"/>
              </a:rPr>
              <a:t>order_items</a:t>
            </a:r>
            <a:endParaRPr lang="en-US" b="1">
              <a:latin typeface="Times New Roman" panose="02020603050405020304" charset="0"/>
              <a:cs typeface="Times New Roman" panose="02020603050405020304" charset="0"/>
              <a:sym typeface="+mn-ea"/>
            </a:endParaRPr>
          </a:p>
        </p:txBody>
      </p:sp>
      <p:sp>
        <p:nvSpPr>
          <p:cNvPr id="10" name="Rectangle 9"/>
          <p:cNvSpPr/>
          <p:nvPr/>
        </p:nvSpPr>
        <p:spPr>
          <a:xfrm>
            <a:off x="457835" y="4385945"/>
            <a:ext cx="3161665" cy="52387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b="1">
                <a:latin typeface="Times New Roman" panose="02020603050405020304" charset="0"/>
                <a:cs typeface="Times New Roman" panose="02020603050405020304" charset="0"/>
                <a:sym typeface="+mn-ea"/>
              </a:rPr>
              <a:t>orders</a:t>
            </a:r>
            <a:endParaRPr lang="en-US" b="1">
              <a:latin typeface="Times New Roman" panose="02020603050405020304" charset="0"/>
              <a:cs typeface="Times New Roman" panose="02020603050405020304" charset="0"/>
              <a:sym typeface="+mn-ea"/>
            </a:endParaRPr>
          </a:p>
        </p:txBody>
      </p:sp>
      <p:sp>
        <p:nvSpPr>
          <p:cNvPr id="11" name="Rectangle 10"/>
          <p:cNvSpPr/>
          <p:nvPr/>
        </p:nvSpPr>
        <p:spPr>
          <a:xfrm>
            <a:off x="5510530" y="1600200"/>
            <a:ext cx="3161665" cy="52387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b="1">
                <a:latin typeface="Times New Roman" panose="02020603050405020304" charset="0"/>
                <a:cs typeface="Times New Roman" panose="02020603050405020304" charset="0"/>
                <a:sym typeface="+mn-ea"/>
              </a:rPr>
              <a:t>products</a:t>
            </a:r>
            <a:endParaRPr lang="en-US" b="1">
              <a:latin typeface="Times New Roman" panose="02020603050405020304" charset="0"/>
              <a:cs typeface="Times New Roman" panose="020206030504050203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circle(in)">
                                      <p:cBhvr>
                                        <p:cTn id="26" dur="2000"/>
                                        <p:tgtEl>
                                          <p:spTgt spid="10"/>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circle(in)">
                                      <p:cBhvr>
                                        <p:cTn id="29" dur="20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ox(in)">
                                      <p:cBhvr>
                                        <p:cTn id="34" dur="2000"/>
                                        <p:tgtEl>
                                          <p:spTgt spid="6"/>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ox(in)">
                                      <p:cBhvr>
                                        <p:cTn id="3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8" grpId="0" animBg="1"/>
      <p:bldP spid="4" grpId="0" animBg="1"/>
      <p:bldP spid="11" grpId="0" animBg="1"/>
      <p:bldP spid="7" grpId="0" animBg="1"/>
      <p:bldP spid="8" grpId="1" animBg="1"/>
      <p:bldP spid="4" grpId="1" animBg="1"/>
      <p:bldP spid="11" grpId="1" animBg="1"/>
      <p:bldP spid="7" grpId="1" animBg="1"/>
      <p:bldP spid="10" grpId="0" animBg="1"/>
      <p:bldP spid="5" grpId="0" animBg="1"/>
      <p:bldP spid="10" grpId="1" animBg="1"/>
      <p:bldP spid="5" grpId="1" animBg="1"/>
      <p:bldP spid="6" grpId="0" animBg="1"/>
      <p:bldP spid="9" grpId="0" animBg="1"/>
      <p:bldP spid="6" grpId="1" animBg="1"/>
      <p:bldP spid="9"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lstStyle/>
          <a:p>
            <a:r>
              <a:rPr b="1">
                <a:latin typeface="Times New Roman" panose="02020603050405020304" charset="0"/>
                <a:cs typeface="Times New Roman" panose="02020603050405020304" charset="0"/>
              </a:rPr>
              <a:t>Quan hệ dữ liệu</a:t>
            </a:r>
            <a:endParaRPr b="1">
              <a:latin typeface="Times New Roman" panose="02020603050405020304" charset="0"/>
              <a:cs typeface="Times New Roman" panose="02020603050405020304" charset="0"/>
            </a:endParaRPr>
          </a:p>
        </p:txBody>
      </p:sp>
      <p:sp>
        <p:nvSpPr>
          <p:cNvPr id="4" name="Rectangle 3"/>
          <p:cNvSpPr/>
          <p:nvPr/>
        </p:nvSpPr>
        <p:spPr>
          <a:xfrm>
            <a:off x="457200" y="1600200"/>
            <a:ext cx="2407285" cy="91440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latin typeface="Times New Roman" panose="02020603050405020304" charset="0"/>
                <a:cs typeface="Times New Roman" panose="02020603050405020304" charset="0"/>
              </a:rPr>
              <a:t>Orders(1)</a:t>
            </a:r>
            <a:endParaRPr lang="en-US" altLang="en-US">
              <a:latin typeface="Times New Roman" panose="02020603050405020304" charset="0"/>
              <a:cs typeface="Times New Roman" panose="02020603050405020304" charset="0"/>
            </a:endParaRPr>
          </a:p>
        </p:txBody>
      </p:sp>
      <p:sp>
        <p:nvSpPr>
          <p:cNvPr id="5" name="Rectangle 4"/>
          <p:cNvSpPr/>
          <p:nvPr/>
        </p:nvSpPr>
        <p:spPr>
          <a:xfrm>
            <a:off x="6279515" y="3058160"/>
            <a:ext cx="2407285" cy="91440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latin typeface="Times New Roman" panose="02020603050405020304" charset="0"/>
                <a:cs typeface="Times New Roman" panose="02020603050405020304" charset="0"/>
              </a:rPr>
              <a:t>Order_Items(N)</a:t>
            </a:r>
            <a:endParaRPr lang="en-US" altLang="en-US">
              <a:latin typeface="Times New Roman" panose="02020603050405020304" charset="0"/>
              <a:cs typeface="Times New Roman" panose="02020603050405020304" charset="0"/>
            </a:endParaRPr>
          </a:p>
        </p:txBody>
      </p:sp>
      <p:sp>
        <p:nvSpPr>
          <p:cNvPr id="6" name="Rectangle 5"/>
          <p:cNvSpPr/>
          <p:nvPr/>
        </p:nvSpPr>
        <p:spPr>
          <a:xfrm>
            <a:off x="6279515" y="1600200"/>
            <a:ext cx="2407285" cy="91440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latin typeface="Times New Roman" panose="02020603050405020304" charset="0"/>
                <a:cs typeface="Times New Roman" panose="02020603050405020304" charset="0"/>
              </a:rPr>
              <a:t>Order_Items(N)</a:t>
            </a:r>
            <a:endParaRPr lang="en-US" altLang="en-US">
              <a:latin typeface="Times New Roman" panose="02020603050405020304" charset="0"/>
              <a:cs typeface="Times New Roman" panose="02020603050405020304" charset="0"/>
            </a:endParaRPr>
          </a:p>
        </p:txBody>
      </p:sp>
      <p:sp>
        <p:nvSpPr>
          <p:cNvPr id="7" name="Rectangle 6"/>
          <p:cNvSpPr/>
          <p:nvPr/>
        </p:nvSpPr>
        <p:spPr>
          <a:xfrm>
            <a:off x="457200" y="3058160"/>
            <a:ext cx="2407285" cy="91440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latin typeface="Times New Roman" panose="02020603050405020304" charset="0"/>
                <a:cs typeface="Times New Roman" panose="02020603050405020304" charset="0"/>
              </a:rPr>
              <a:t>Products(1)</a:t>
            </a:r>
            <a:endParaRPr lang="en-US" altLang="en-US">
              <a:latin typeface="Times New Roman" panose="02020603050405020304" charset="0"/>
              <a:cs typeface="Times New Roman" panose="02020603050405020304" charset="0"/>
            </a:endParaRPr>
          </a:p>
        </p:txBody>
      </p:sp>
      <p:sp>
        <p:nvSpPr>
          <p:cNvPr id="8" name="Rectangle 7"/>
          <p:cNvSpPr/>
          <p:nvPr/>
        </p:nvSpPr>
        <p:spPr>
          <a:xfrm>
            <a:off x="2353945" y="4516120"/>
            <a:ext cx="5218430" cy="216090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latin typeface="Times New Roman" panose="02020603050405020304" charset="0"/>
                <a:cs typeface="Times New Roman" panose="02020603050405020304" charset="0"/>
              </a:rPr>
              <a:t>Order_Items</a:t>
            </a:r>
            <a:endParaRPr lang="en-US" altLang="en-US">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Bảng trung gian ghi lại chi tiết sản phẩm từng đơn hàng</a:t>
            </a:r>
            <a:endParaRPr lang="en-US" altLang="en-US">
              <a:latin typeface="Times New Roman" panose="02020603050405020304" charset="0"/>
              <a:cs typeface="Times New Roman" panose="02020603050405020304" charset="0"/>
            </a:endParaRPr>
          </a:p>
          <a:p>
            <a:pPr algn="ctr"/>
            <a:r>
              <a:rPr lang="en-US" altLang="en-US">
                <a:latin typeface="Times New Roman" panose="02020603050405020304" charset="0"/>
                <a:cs typeface="Times New Roman" panose="02020603050405020304" charset="0"/>
              </a:rPr>
              <a:t>Là liên kết giữa orders và Products</a:t>
            </a:r>
            <a:endParaRPr lang="en-US" altLang="en-US">
              <a:latin typeface="Times New Roman" panose="02020603050405020304" charset="0"/>
              <a:cs typeface="Times New Roman" panose="02020603050405020304" charset="0"/>
            </a:endParaRPr>
          </a:p>
        </p:txBody>
      </p:sp>
      <p:cxnSp>
        <p:nvCxnSpPr>
          <p:cNvPr id="9" name="Straight Arrow Connector 8"/>
          <p:cNvCxnSpPr>
            <a:stCxn id="4" idx="3"/>
            <a:endCxn id="6" idx="1"/>
          </p:cNvCxnSpPr>
          <p:nvPr/>
        </p:nvCxnSpPr>
        <p:spPr>
          <a:xfrm>
            <a:off x="2864485" y="2057400"/>
            <a:ext cx="341503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2864485" y="3515360"/>
            <a:ext cx="341503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 Box 10"/>
          <p:cNvSpPr txBox="1"/>
          <p:nvPr/>
        </p:nvSpPr>
        <p:spPr>
          <a:xfrm>
            <a:off x="3048000" y="1412240"/>
            <a:ext cx="3048000" cy="645160"/>
          </a:xfrm>
          <a:prstGeom prst="rect">
            <a:avLst/>
          </a:prstGeom>
          <a:noFill/>
        </p:spPr>
        <p:txBody>
          <a:bodyPr wrap="square" rtlCol="0">
            <a:spAutoFit/>
          </a:bodyPr>
          <a:p>
            <a:r>
              <a:rPr lang="en-US"/>
              <a:t>Một đơn hàng có nhiều sản phẩm</a:t>
            </a:r>
            <a:endParaRPr lang="en-US"/>
          </a:p>
        </p:txBody>
      </p:sp>
      <p:sp>
        <p:nvSpPr>
          <p:cNvPr id="12" name="Text Box 11"/>
          <p:cNvSpPr txBox="1"/>
          <p:nvPr/>
        </p:nvSpPr>
        <p:spPr>
          <a:xfrm>
            <a:off x="3048000" y="2870200"/>
            <a:ext cx="3048000" cy="645160"/>
          </a:xfrm>
          <a:prstGeom prst="rect">
            <a:avLst/>
          </a:prstGeom>
          <a:noFill/>
        </p:spPr>
        <p:txBody>
          <a:bodyPr wrap="square" rtlCol="0">
            <a:spAutoFit/>
          </a:bodyPr>
          <a:p>
            <a:r>
              <a:rPr lang="en-US"/>
              <a:t>Một sản phẩm có thể xuất hiện trong nhiều đơn hàng</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par>
                                <p:cTn id="13" presetID="6" presetClass="entr" presetSubtype="16"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circle(in)">
                                      <p:cBhvr>
                                        <p:cTn id="15" dur="2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ox(in)">
                                      <p:cBhvr>
                                        <p:cTn id="20" dur="2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linds(horizont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circle(in)">
                                      <p:cBhvr>
                                        <p:cTn id="30" dur="20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checkerboard(across)">
                                      <p:cBhvr>
                                        <p:cTn id="35" dur="500"/>
                                        <p:tgtEl>
                                          <p:spTgt spid="10"/>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checkerboard(across)">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circle(in)">
                                      <p:cBhvr>
                                        <p:cTn id="48"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6" grpId="0" animBg="1"/>
      <p:bldP spid="6" grpId="1" animBg="1"/>
      <p:bldP spid="11" grpId="0"/>
      <p:bldP spid="11" grpId="1"/>
      <p:bldP spid="7" grpId="0" animBg="1"/>
      <p:bldP spid="7" grpId="1" animBg="1"/>
      <p:bldP spid="5" grpId="0" animBg="1"/>
      <p:bldP spid="5" grpId="1" animBg="1"/>
      <p:bldP spid="12" grpId="0"/>
      <p:bldP spid="12" grpId="1"/>
      <p:bldP spid="8" grpId="0" animBg="1"/>
      <p:bldP spid="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p:nvPr/>
        </p:nvSpPr>
        <p:spPr>
          <a:xfrm>
            <a:off x="2503170" y="217170"/>
            <a:ext cx="3915410" cy="458216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indent="457200" algn="ctr"/>
            <a:r>
              <a:rPr lang="en-US" altLang="en-US" sz="2800">
                <a:latin typeface="Times New Roman" panose="02020603050405020304" charset="0"/>
                <a:cs typeface="Times New Roman" panose="02020603050405020304" charset="0"/>
              </a:rPr>
              <a:t>id (PK)</a:t>
            </a:r>
            <a:endParaRPr lang="en-US" altLang="en-US" sz="2800">
              <a:latin typeface="Times New Roman" panose="02020603050405020304" charset="0"/>
              <a:cs typeface="Times New Roman" panose="02020603050405020304" charset="0"/>
            </a:endParaRPr>
          </a:p>
          <a:p>
            <a:pPr indent="457200" algn="ctr"/>
            <a:r>
              <a:rPr lang="en-US" altLang="en-US" sz="2800">
                <a:latin typeface="Times New Roman" panose="02020603050405020304" charset="0"/>
                <a:cs typeface="Times New Roman" panose="02020603050405020304" charset="0"/>
              </a:rPr>
              <a:t>name</a:t>
            </a:r>
            <a:endParaRPr lang="en-US" altLang="en-US" sz="2800">
              <a:latin typeface="Times New Roman" panose="02020603050405020304" charset="0"/>
              <a:cs typeface="Times New Roman" panose="02020603050405020304" charset="0"/>
            </a:endParaRPr>
          </a:p>
          <a:p>
            <a:pPr indent="457200" algn="ctr"/>
            <a:r>
              <a:rPr lang="en-US" altLang="en-US" sz="2800">
                <a:latin typeface="Times New Roman" panose="02020603050405020304" charset="0"/>
                <a:cs typeface="Times New Roman" panose="02020603050405020304" charset="0"/>
              </a:rPr>
              <a:t>price</a:t>
            </a:r>
            <a:endParaRPr lang="en-US" altLang="en-US" sz="2800">
              <a:latin typeface="Times New Roman" panose="02020603050405020304" charset="0"/>
              <a:cs typeface="Times New Roman" panose="02020603050405020304" charset="0"/>
            </a:endParaRPr>
          </a:p>
          <a:p>
            <a:pPr indent="457200" algn="ctr"/>
            <a:r>
              <a:rPr lang="en-US" altLang="en-US" sz="2800">
                <a:latin typeface="Times New Roman" panose="02020603050405020304" charset="0"/>
                <a:cs typeface="Times New Roman" panose="02020603050405020304" charset="0"/>
              </a:rPr>
              <a:t>image</a:t>
            </a:r>
            <a:endParaRPr lang="en-US" altLang="en-US" sz="2800">
              <a:latin typeface="Times New Roman" panose="02020603050405020304" charset="0"/>
              <a:cs typeface="Times New Roman" panose="02020603050405020304" charset="0"/>
            </a:endParaRPr>
          </a:p>
          <a:p>
            <a:pPr indent="457200" algn="ctr"/>
            <a:r>
              <a:rPr lang="en-US" altLang="en-US" sz="2800">
                <a:latin typeface="Times New Roman" panose="02020603050405020304" charset="0"/>
                <a:cs typeface="Times New Roman" panose="02020603050405020304" charset="0"/>
              </a:rPr>
              <a:t>tock</a:t>
            </a:r>
            <a:endParaRPr lang="en-US" altLang="en-US" sz="2800">
              <a:latin typeface="Times New Roman" panose="02020603050405020304" charset="0"/>
              <a:cs typeface="Times New Roman" panose="02020603050405020304" charset="0"/>
            </a:endParaRPr>
          </a:p>
          <a:p>
            <a:pPr indent="457200" algn="ctr"/>
            <a:r>
              <a:rPr lang="en-US" altLang="en-US" sz="2800">
                <a:latin typeface="Times New Roman" panose="02020603050405020304" charset="0"/>
                <a:cs typeface="Times New Roman" panose="02020603050405020304" charset="0"/>
              </a:rPr>
              <a:t>quantity</a:t>
            </a:r>
            <a:endParaRPr lang="en-US" altLang="en-US" sz="2800">
              <a:latin typeface="Times New Roman" panose="02020603050405020304" charset="0"/>
              <a:cs typeface="Times New Roman" panose="02020603050405020304" charset="0"/>
            </a:endParaRPr>
          </a:p>
        </p:txBody>
      </p:sp>
      <p:sp>
        <p:nvSpPr>
          <p:cNvPr id="6" name="Rounded Rectangle 5"/>
          <p:cNvSpPr/>
          <p:nvPr/>
        </p:nvSpPr>
        <p:spPr>
          <a:xfrm>
            <a:off x="2503170" y="217170"/>
            <a:ext cx="3900805" cy="843915"/>
          </a:xfrm>
          <a:prstGeom prst="roundRect">
            <a:avLst>
              <a:gd name="adj" fmla="val 0"/>
            </a:avLst>
          </a:prstGeom>
        </p:spPr>
        <p:style>
          <a:lnRef idx="1">
            <a:schemeClr val="accent1"/>
          </a:lnRef>
          <a:fillRef idx="3">
            <a:schemeClr val="accent1"/>
          </a:fillRef>
          <a:effectRef idx="2">
            <a:schemeClr val="accent1"/>
          </a:effectRef>
          <a:fontRef idx="minor">
            <a:schemeClr val="lt1"/>
          </a:fontRef>
        </p:style>
        <p:txBody>
          <a:bodyPr/>
          <a:p>
            <a:pPr algn="ctr"/>
            <a:r>
              <a:rPr sz="4000" b="1">
                <a:latin typeface="Times New Roman" panose="02020603050405020304" charset="0"/>
                <a:cs typeface="Times New Roman" panose="02020603050405020304" charset="0"/>
                <a:sym typeface="+mn-ea"/>
              </a:rPr>
              <a:t>Bảng Products</a:t>
            </a:r>
            <a:endParaRPr sz="4000" b="1">
              <a:latin typeface="Times New Roman" panose="02020603050405020304" charset="0"/>
              <a:cs typeface="Times New Roman" panose="02020603050405020304" charset="0"/>
              <a:sym typeface="+mn-ea"/>
            </a:endParaRPr>
          </a:p>
          <a:p>
            <a:pPr algn="ctr"/>
            <a:endParaRPr lang="en-US" sz="4000" b="1">
              <a:latin typeface="Times New Roman" panose="02020603050405020304" charset="0"/>
              <a:cs typeface="Times New Roman" panose="02020603050405020304" charset="0"/>
              <a:sym typeface="+mn-ea"/>
            </a:endParaRPr>
          </a:p>
        </p:txBody>
      </p:sp>
      <p:sp>
        <p:nvSpPr>
          <p:cNvPr id="7" name="Text Box 6"/>
          <p:cNvSpPr txBox="1"/>
          <p:nvPr/>
        </p:nvSpPr>
        <p:spPr>
          <a:xfrm>
            <a:off x="806450" y="4977130"/>
            <a:ext cx="7467600" cy="846455"/>
          </a:xfrm>
          <a:prstGeom prst="rect">
            <a:avLst/>
          </a:prstGeom>
          <a:noFill/>
        </p:spPr>
        <p:txBody>
          <a:bodyPr wrap="square" rtlCol="0">
            <a:noAutofit/>
          </a:bodyPr>
          <a:p>
            <a:r>
              <a:rPr lang="en-US" altLang="en-US"/>
              <a:t>Đ</a:t>
            </a:r>
            <a:r>
              <a:rPr lang="en-US" altLang="en-US"/>
              <a:t>ây là bảng Products dùng </a:t>
            </a:r>
            <a:r>
              <a:rPr lang="en-US" altLang="en-US"/>
              <a:t>đ</a:t>
            </a:r>
            <a:r>
              <a:rPr lang="en-US" altLang="en-US"/>
              <a:t>ể l</a:t>
            </a:r>
            <a:r>
              <a:rPr lang="en-US" altLang="en-US"/>
              <a:t>ư</a:t>
            </a:r>
            <a:r>
              <a:rPr lang="en-US" altLang="en-US"/>
              <a:t>u thông tin các sản phẩm </a:t>
            </a:r>
            <a:r>
              <a:rPr lang="en-US" altLang="en-US"/>
              <a:t>đ</a:t>
            </a:r>
            <a:r>
              <a:rPr lang="en-US" altLang="en-US"/>
              <a:t>ồ gốm. Bảng gồm mã sản phẩm, tên sản phẩm, giá bán, hình ảnh và số l</a:t>
            </a:r>
            <a:r>
              <a:rPr lang="en-US" altLang="en-US"/>
              <a:t>ư</a:t>
            </a:r>
            <a:r>
              <a:rPr lang="en-US" altLang="en-US"/>
              <a:t>ợng tồn kho phục vụ cho quá trình quản l</a:t>
            </a:r>
            <a:r>
              <a:rPr lang="en-US" altLang="en-US"/>
              <a:t>ý </a:t>
            </a:r>
            <a:r>
              <a:rPr lang="en-US" altLang="en-US"/>
              <a:t>và kinh doanh trên website.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ox(in)">
                                      <p:cBhvr>
                                        <p:cTn id="10" dur="2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6" grpId="1" animBg="1"/>
      <p:bldP spid="5" grpId="1" animBg="1"/>
      <p:bldP spid="7" grpId="0"/>
      <p:bldP spid="7"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6"/>
          <p:cNvSpPr/>
          <p:nvPr/>
        </p:nvSpPr>
        <p:spPr>
          <a:xfrm>
            <a:off x="2503170" y="217170"/>
            <a:ext cx="3915410" cy="458216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indent="0" algn="ctr">
              <a:buNone/>
            </a:pPr>
            <a:r>
              <a:rPr lang="en-US" altLang="en-US" sz="2800">
                <a:latin typeface="Times New Roman" panose="02020603050405020304" charset="0"/>
                <a:cs typeface="Times New Roman" panose="02020603050405020304" charset="0"/>
              </a:rPr>
              <a:t>id</a:t>
            </a:r>
            <a:endParaRPr lang="en-US" altLang="en-US" sz="2800">
              <a:latin typeface="Times New Roman" panose="02020603050405020304" charset="0"/>
              <a:cs typeface="Times New Roman" panose="02020603050405020304" charset="0"/>
            </a:endParaRPr>
          </a:p>
          <a:p>
            <a:pPr indent="0" algn="ctr">
              <a:buNone/>
            </a:pPr>
            <a:r>
              <a:rPr lang="en-US" altLang="en-US" sz="2800">
                <a:latin typeface="Times New Roman" panose="02020603050405020304" charset="0"/>
                <a:cs typeface="Times New Roman" panose="02020603050405020304" charset="0"/>
              </a:rPr>
              <a:t>customer</a:t>
            </a:r>
            <a:endParaRPr lang="en-US" altLang="en-US" sz="2800">
              <a:latin typeface="Times New Roman" panose="02020603050405020304" charset="0"/>
              <a:cs typeface="Times New Roman" panose="02020603050405020304" charset="0"/>
            </a:endParaRPr>
          </a:p>
          <a:p>
            <a:pPr indent="0" algn="ctr">
              <a:buNone/>
            </a:pPr>
            <a:r>
              <a:rPr lang="en-US" altLang="en-US" sz="2800">
                <a:latin typeface="Times New Roman" panose="02020603050405020304" charset="0"/>
                <a:cs typeface="Times New Roman" panose="02020603050405020304" charset="0"/>
              </a:rPr>
              <a:t>created_at</a:t>
            </a:r>
            <a:endParaRPr lang="en-US" altLang="en-US" sz="2800">
              <a:latin typeface="Times New Roman" panose="02020603050405020304" charset="0"/>
              <a:cs typeface="Times New Roman" panose="02020603050405020304" charset="0"/>
            </a:endParaRPr>
          </a:p>
          <a:p>
            <a:pPr indent="0" algn="ctr">
              <a:buNone/>
            </a:pPr>
            <a:r>
              <a:rPr lang="en-US" altLang="en-US" sz="2800">
                <a:latin typeface="Times New Roman" panose="02020603050405020304" charset="0"/>
                <a:cs typeface="Times New Roman" panose="02020603050405020304" charset="0"/>
              </a:rPr>
              <a:t>type</a:t>
            </a:r>
            <a:endParaRPr lang="en-US" altLang="en-US" sz="2800">
              <a:latin typeface="Times New Roman" panose="02020603050405020304" charset="0"/>
              <a:cs typeface="Times New Roman" panose="02020603050405020304" charset="0"/>
            </a:endParaRPr>
          </a:p>
          <a:p>
            <a:pPr indent="0" algn="ctr">
              <a:buNone/>
            </a:pPr>
            <a:r>
              <a:rPr lang="en-US" altLang="en-US" sz="2800">
                <a:latin typeface="Times New Roman" panose="02020603050405020304" charset="0"/>
                <a:cs typeface="Times New Roman" panose="02020603050405020304" charset="0"/>
              </a:rPr>
              <a:t>phone</a:t>
            </a:r>
            <a:endParaRPr lang="en-US" altLang="en-US" sz="2800">
              <a:latin typeface="Times New Roman" panose="02020603050405020304" charset="0"/>
              <a:cs typeface="Times New Roman" panose="02020603050405020304" charset="0"/>
            </a:endParaRPr>
          </a:p>
          <a:p>
            <a:pPr indent="0" algn="ctr">
              <a:buNone/>
            </a:pPr>
            <a:r>
              <a:rPr lang="en-US" altLang="en-US" sz="2800">
                <a:latin typeface="Times New Roman" panose="02020603050405020304" charset="0"/>
                <a:cs typeface="Times New Roman" panose="02020603050405020304" charset="0"/>
              </a:rPr>
              <a:t>status</a:t>
            </a:r>
            <a:endParaRPr lang="en-US" altLang="en-US" sz="2800">
              <a:latin typeface="Times New Roman" panose="02020603050405020304" charset="0"/>
              <a:cs typeface="Times New Roman" panose="02020603050405020304" charset="0"/>
            </a:endParaRPr>
          </a:p>
        </p:txBody>
      </p:sp>
      <p:sp>
        <p:nvSpPr>
          <p:cNvPr id="8" name="Rounded Rectangle 7"/>
          <p:cNvSpPr/>
          <p:nvPr/>
        </p:nvSpPr>
        <p:spPr>
          <a:xfrm>
            <a:off x="2503170" y="217170"/>
            <a:ext cx="3900805" cy="843915"/>
          </a:xfrm>
          <a:prstGeom prst="roundRect">
            <a:avLst>
              <a:gd name="adj" fmla="val 0"/>
            </a:avLst>
          </a:prstGeom>
        </p:spPr>
        <p:style>
          <a:lnRef idx="1">
            <a:schemeClr val="accent1"/>
          </a:lnRef>
          <a:fillRef idx="3">
            <a:schemeClr val="accent1"/>
          </a:fillRef>
          <a:effectRef idx="2">
            <a:schemeClr val="accent1"/>
          </a:effectRef>
          <a:fontRef idx="minor">
            <a:schemeClr val="lt1"/>
          </a:fontRef>
        </p:style>
        <p:txBody>
          <a:bodyPr/>
          <a:p>
            <a:pPr algn="ctr"/>
            <a:r>
              <a:rPr sz="4000" b="1">
                <a:latin typeface="Times New Roman" panose="02020603050405020304" charset="0"/>
                <a:cs typeface="Times New Roman" panose="02020603050405020304" charset="0"/>
                <a:sym typeface="+mn-ea"/>
              </a:rPr>
              <a:t>Bảng </a:t>
            </a:r>
            <a:r>
              <a:rPr lang="en-US" altLang="en-US" sz="4000" b="1">
                <a:latin typeface="Times New Roman" panose="02020603050405020304" charset="0"/>
                <a:cs typeface="Times New Roman" panose="02020603050405020304" charset="0"/>
                <a:sym typeface="+mn-ea"/>
              </a:rPr>
              <a:t>ORDERS</a:t>
            </a:r>
            <a:endParaRPr lang="en-US" altLang="en-US" sz="4000" b="1">
              <a:latin typeface="Times New Roman" panose="02020603050405020304" charset="0"/>
              <a:cs typeface="Times New Roman" panose="02020603050405020304" charset="0"/>
              <a:sym typeface="+mn-ea"/>
            </a:endParaRPr>
          </a:p>
          <a:p>
            <a:pPr algn="ctr"/>
            <a:endParaRPr lang="en-US" sz="4000" b="1">
              <a:latin typeface="Times New Roman" panose="02020603050405020304" charset="0"/>
              <a:cs typeface="Times New Roman" panose="02020603050405020304" charset="0"/>
              <a:sym typeface="+mn-ea"/>
            </a:endParaRPr>
          </a:p>
        </p:txBody>
      </p:sp>
      <p:sp>
        <p:nvSpPr>
          <p:cNvPr id="9" name="Text Box 8"/>
          <p:cNvSpPr txBox="1"/>
          <p:nvPr/>
        </p:nvSpPr>
        <p:spPr>
          <a:xfrm>
            <a:off x="1723390" y="4914900"/>
            <a:ext cx="5686425" cy="1541145"/>
          </a:xfrm>
          <a:prstGeom prst="rect">
            <a:avLst/>
          </a:prstGeom>
          <a:noFill/>
        </p:spPr>
        <p:txBody>
          <a:bodyPr wrap="square" rtlCol="0">
            <a:noAutofit/>
          </a:bodyPr>
          <a:p>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ây là bảng Orders dùng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ể l</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u thông tin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ơn hàng của khách hàng. Bảng bao gồm mã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ơn hàng, tên khách hàng, số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iện thoại, thời gian tạo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ơn, loại giao dịch và trạng thái xử l</a:t>
            </a:r>
            <a:r>
              <a:rPr lang="en-US" altLang="en-US">
                <a:latin typeface="Times New Roman" panose="02020603050405020304" charset="0"/>
                <a:cs typeface="Times New Roman" panose="02020603050405020304" charset="0"/>
              </a:rPr>
              <a:t>ý đ</a:t>
            </a:r>
            <a:r>
              <a:rPr lang="en-US" altLang="en-US">
                <a:latin typeface="Times New Roman" panose="02020603050405020304" charset="0"/>
                <a:cs typeface="Times New Roman" panose="02020603050405020304" charset="0"/>
              </a:rPr>
              <a:t>ơn hàng. Bảng này giúp theo d</a:t>
            </a:r>
            <a:r>
              <a:rPr lang="en-US" altLang="en-US">
                <a:latin typeface="Times New Roman" panose="02020603050405020304" charset="0"/>
                <a:cs typeface="Times New Roman" panose="02020603050405020304" charset="0"/>
              </a:rPr>
              <a:t>õ</a:t>
            </a:r>
            <a:r>
              <a:rPr lang="en-US" altLang="en-US">
                <a:latin typeface="Times New Roman" panose="02020603050405020304" charset="0"/>
                <a:cs typeface="Times New Roman" panose="02020603050405020304" charset="0"/>
              </a:rPr>
              <a:t>i và quản l</a:t>
            </a:r>
            <a:r>
              <a:rPr lang="en-US" altLang="en-US">
                <a:latin typeface="Times New Roman" panose="02020603050405020304" charset="0"/>
                <a:cs typeface="Times New Roman" panose="02020603050405020304" charset="0"/>
              </a:rPr>
              <a:t>ý </a:t>
            </a:r>
            <a:r>
              <a:rPr lang="en-US" altLang="en-US">
                <a:latin typeface="Times New Roman" panose="02020603050405020304" charset="0"/>
                <a:cs typeface="Times New Roman" panose="02020603050405020304" charset="0"/>
              </a:rPr>
              <a:t>toàn bộ quá trình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ặt hàng trên hệ thống.</a:t>
            </a:r>
            <a:endParaRPr lang="en-US">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2000"/>
                                        <p:tgtEl>
                                          <p:spTgt spid="8"/>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ox(in)">
                                      <p:cBhvr>
                                        <p:cTn id="10" dur="2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8" grpId="1" animBg="1"/>
      <p:bldP spid="7" grpId="1" animBg="1"/>
      <p:bldP spid="9" grpId="0"/>
      <p:bldP spid="9"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6"/>
          <p:cNvSpPr/>
          <p:nvPr/>
        </p:nvSpPr>
        <p:spPr>
          <a:xfrm>
            <a:off x="2503170" y="259080"/>
            <a:ext cx="3915410" cy="458216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indent="0" algn="ctr">
              <a:buNone/>
            </a:pPr>
            <a:r>
              <a:rPr lang="en-US" altLang="en-US" sz="2800">
                <a:latin typeface="Times New Roman" panose="02020603050405020304" charset="0"/>
                <a:cs typeface="Times New Roman" panose="02020603050405020304" charset="0"/>
              </a:rPr>
              <a:t>id</a:t>
            </a:r>
            <a:endParaRPr lang="en-US" altLang="en-US" sz="2800">
              <a:latin typeface="Times New Roman" panose="02020603050405020304" charset="0"/>
              <a:cs typeface="Times New Roman" panose="02020603050405020304" charset="0"/>
            </a:endParaRPr>
          </a:p>
          <a:p>
            <a:pPr indent="0" algn="ctr">
              <a:buNone/>
            </a:pPr>
            <a:r>
              <a:rPr lang="en-US" altLang="en-US" sz="2800">
                <a:latin typeface="Times New Roman" panose="02020603050405020304" charset="0"/>
                <a:cs typeface="Times New Roman" panose="02020603050405020304" charset="0"/>
              </a:rPr>
              <a:t>username</a:t>
            </a:r>
            <a:endParaRPr lang="en-US" altLang="en-US" sz="2800">
              <a:latin typeface="Times New Roman" panose="02020603050405020304" charset="0"/>
              <a:cs typeface="Times New Roman" panose="02020603050405020304" charset="0"/>
            </a:endParaRPr>
          </a:p>
          <a:p>
            <a:pPr indent="0" algn="ctr">
              <a:buNone/>
            </a:pPr>
            <a:r>
              <a:rPr lang="en-US" altLang="en-US" sz="2800">
                <a:latin typeface="Times New Roman" panose="02020603050405020304" charset="0"/>
                <a:cs typeface="Times New Roman" panose="02020603050405020304" charset="0"/>
              </a:rPr>
              <a:t>password</a:t>
            </a:r>
            <a:endParaRPr lang="en-US" altLang="en-US" sz="2800">
              <a:latin typeface="Times New Roman" panose="02020603050405020304" charset="0"/>
              <a:cs typeface="Times New Roman" panose="02020603050405020304" charset="0"/>
            </a:endParaRPr>
          </a:p>
          <a:p>
            <a:pPr indent="0" algn="ctr">
              <a:buNone/>
            </a:pPr>
            <a:r>
              <a:rPr lang="en-US" altLang="en-US" sz="2800">
                <a:latin typeface="Times New Roman" panose="02020603050405020304" charset="0"/>
                <a:cs typeface="Times New Roman" panose="02020603050405020304" charset="0"/>
              </a:rPr>
              <a:t>created_at</a:t>
            </a:r>
            <a:endParaRPr lang="en-US" altLang="en-US" sz="2800">
              <a:latin typeface="Times New Roman" panose="02020603050405020304" charset="0"/>
              <a:cs typeface="Times New Roman" panose="02020603050405020304" charset="0"/>
            </a:endParaRPr>
          </a:p>
          <a:p>
            <a:pPr indent="0" algn="ctr">
              <a:buNone/>
            </a:pPr>
            <a:r>
              <a:rPr lang="en-US" altLang="en-US" sz="2800">
                <a:latin typeface="Times New Roman" panose="02020603050405020304" charset="0"/>
                <a:cs typeface="Times New Roman" panose="02020603050405020304" charset="0"/>
              </a:rPr>
              <a:t>role</a:t>
            </a:r>
            <a:endParaRPr lang="en-US" altLang="en-US" sz="2800">
              <a:latin typeface="Times New Roman" panose="02020603050405020304" charset="0"/>
              <a:cs typeface="Times New Roman" panose="02020603050405020304" charset="0"/>
            </a:endParaRPr>
          </a:p>
        </p:txBody>
      </p:sp>
      <p:sp>
        <p:nvSpPr>
          <p:cNvPr id="8" name="Rounded Rectangle 7"/>
          <p:cNvSpPr/>
          <p:nvPr/>
        </p:nvSpPr>
        <p:spPr>
          <a:xfrm>
            <a:off x="2503170" y="259080"/>
            <a:ext cx="3900805" cy="843915"/>
          </a:xfrm>
          <a:prstGeom prst="roundRect">
            <a:avLst>
              <a:gd name="adj" fmla="val 0"/>
            </a:avLst>
          </a:prstGeom>
        </p:spPr>
        <p:style>
          <a:lnRef idx="1">
            <a:schemeClr val="accent1"/>
          </a:lnRef>
          <a:fillRef idx="3">
            <a:schemeClr val="accent1"/>
          </a:fillRef>
          <a:effectRef idx="2">
            <a:schemeClr val="accent1"/>
          </a:effectRef>
          <a:fontRef idx="minor">
            <a:schemeClr val="lt1"/>
          </a:fontRef>
        </p:style>
        <p:txBody>
          <a:bodyPr/>
          <a:p>
            <a:pPr algn="ctr"/>
            <a:r>
              <a:rPr sz="4000" b="1">
                <a:latin typeface="Times New Roman" panose="02020603050405020304" charset="0"/>
                <a:cs typeface="Times New Roman" panose="02020603050405020304" charset="0"/>
                <a:sym typeface="+mn-ea"/>
              </a:rPr>
              <a:t>Bảng Users</a:t>
            </a:r>
            <a:endParaRPr sz="4000" b="1">
              <a:latin typeface="Times New Roman" panose="02020603050405020304" charset="0"/>
              <a:cs typeface="Times New Roman" panose="02020603050405020304" charset="0"/>
              <a:sym typeface="+mn-ea"/>
            </a:endParaRPr>
          </a:p>
          <a:p>
            <a:pPr algn="ctr"/>
            <a:endParaRPr lang="en-US" sz="4000" b="1">
              <a:latin typeface="Times New Roman" panose="02020603050405020304" charset="0"/>
              <a:cs typeface="Times New Roman" panose="02020603050405020304" charset="0"/>
              <a:sym typeface="+mn-ea"/>
            </a:endParaRPr>
          </a:p>
        </p:txBody>
      </p:sp>
      <p:sp>
        <p:nvSpPr>
          <p:cNvPr id="6" name="Text Box 5"/>
          <p:cNvSpPr txBox="1"/>
          <p:nvPr/>
        </p:nvSpPr>
        <p:spPr>
          <a:xfrm>
            <a:off x="1647825" y="5113655"/>
            <a:ext cx="6049010" cy="1411605"/>
          </a:xfrm>
          <a:prstGeom prst="rect">
            <a:avLst/>
          </a:prstGeom>
          <a:noFill/>
        </p:spPr>
        <p:txBody>
          <a:bodyPr wrap="square" rtlCol="0">
            <a:noAutofit/>
          </a:bodyPr>
          <a:p>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ây là bảng Users dùng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ể l</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u trữ thông tin tài khoản của ng</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ời dùng trong hệ thống. Bảng bao gồm mã ng</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ời dùng, tên </a:t>
            </a:r>
            <a:r>
              <a:rPr lang="en-US" altLang="en-US">
                <a:latin typeface="Times New Roman" panose="02020603050405020304" charset="0"/>
                <a:cs typeface="Times New Roman" panose="02020603050405020304" charset="0"/>
              </a:rPr>
              <a:t>đă</a:t>
            </a:r>
            <a:r>
              <a:rPr lang="en-US" altLang="en-US">
                <a:latin typeface="Times New Roman" panose="02020603050405020304" charset="0"/>
                <a:cs typeface="Times New Roman" panose="02020603050405020304" charset="0"/>
              </a:rPr>
              <a:t>ng nhập, mật khẩu, thời gian tạo tài khoản và quyền truy cập. Tr</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ờng role </a:t>
            </a:r>
            <a:r>
              <a:rPr lang="en-US" altLang="en-US">
                <a:latin typeface="Times New Roman" panose="02020603050405020304" charset="0"/>
                <a:cs typeface="Times New Roman" panose="02020603050405020304" charset="0"/>
              </a:rPr>
              <a:t>đư</a:t>
            </a:r>
            <a:r>
              <a:rPr lang="en-US" altLang="en-US">
                <a:latin typeface="Times New Roman" panose="02020603050405020304" charset="0"/>
                <a:cs typeface="Times New Roman" panose="02020603050405020304" charset="0"/>
              </a:rPr>
              <a:t>ợc sử dụng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ể phân biệt giữa ng</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ời dùng thông th</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ờng và quản l</a:t>
            </a:r>
            <a:r>
              <a:rPr lang="en-US" altLang="en-US">
                <a:latin typeface="Times New Roman" panose="02020603050405020304" charset="0"/>
                <a:cs typeface="Times New Roman" panose="02020603050405020304" charset="0"/>
              </a:rPr>
              <a:t>ý </a:t>
            </a:r>
            <a:r>
              <a:rPr lang="en-US" altLang="en-US">
                <a:latin typeface="Times New Roman" panose="02020603050405020304" charset="0"/>
                <a:cs typeface="Times New Roman" panose="02020603050405020304" charset="0"/>
              </a:rPr>
              <a:t>hệ thống.</a:t>
            </a:r>
            <a:endParaRPr lang="en-US">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2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8" grpId="1" animBg="1"/>
      <p:bldP spid="7" grpId="1" animBg="1"/>
      <p:bldP spid="6" grpId="0"/>
      <p:bldP spid="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lstStyle/>
          <a:p>
            <a:r>
              <a:rPr b="1">
                <a:latin typeface="Times New Roman" panose="02020603050405020304" charset="0"/>
                <a:cs typeface="Times New Roman" panose="02020603050405020304" charset="0"/>
              </a:rPr>
              <a:t>Công nghệ sử dụng</a:t>
            </a:r>
            <a:endParaRPr b="1">
              <a:latin typeface="Times New Roman" panose="02020603050405020304" charset="0"/>
              <a:cs typeface="Times New Roman" panose="02020603050405020304" charset="0"/>
            </a:endParaRPr>
          </a:p>
        </p:txBody>
      </p:sp>
      <p:sp>
        <p:nvSpPr>
          <p:cNvPr id="4" name="Rectangle 3"/>
          <p:cNvSpPr/>
          <p:nvPr/>
        </p:nvSpPr>
        <p:spPr>
          <a:xfrm>
            <a:off x="1182370" y="1515745"/>
            <a:ext cx="2275205" cy="183578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r>
              <a:rPr lang="en-US" altLang="en-US"/>
              <a:t>• </a:t>
            </a:r>
            <a:endParaRPr lang="en-US" altLang="en-US"/>
          </a:p>
          <a:p>
            <a:endParaRPr lang="en-US" altLang="en-US"/>
          </a:p>
          <a:p>
            <a:endParaRPr lang="en-US" altLang="en-US"/>
          </a:p>
          <a:p>
            <a:pPr algn="ctr"/>
            <a:r>
              <a:rPr lang="en-US" altLang="en-US"/>
              <a:t>HTML</a:t>
            </a:r>
            <a:endParaRPr lang="en-US" altLang="en-US"/>
          </a:p>
          <a:p>
            <a:pPr algn="ctr"/>
            <a:r>
              <a:rPr lang="en-US" altLang="en-US"/>
              <a:t>CSS</a:t>
            </a:r>
            <a:endParaRPr lang="en-US" altLang="en-US"/>
          </a:p>
          <a:p>
            <a:pPr algn="ctr"/>
            <a:r>
              <a:rPr lang="en-US" altLang="en-US"/>
              <a:t>JavaScript</a:t>
            </a:r>
            <a:endParaRPr lang="en-US" altLang="en-US"/>
          </a:p>
          <a:p>
            <a:endParaRPr lang="en-US" altLang="en-US"/>
          </a:p>
          <a:p>
            <a:endParaRPr lang="en-US"/>
          </a:p>
        </p:txBody>
      </p:sp>
      <p:sp>
        <p:nvSpPr>
          <p:cNvPr id="5" name="Rectangle 4"/>
          <p:cNvSpPr/>
          <p:nvPr/>
        </p:nvSpPr>
        <p:spPr>
          <a:xfrm>
            <a:off x="1183005" y="1515745"/>
            <a:ext cx="2270125" cy="59563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tLang="en-US"/>
              <a:t>Giao Diện</a:t>
            </a:r>
            <a:endParaRPr lang="en-US" altLang="en-US"/>
          </a:p>
        </p:txBody>
      </p:sp>
      <p:sp>
        <p:nvSpPr>
          <p:cNvPr id="6" name="Rectangle 5"/>
          <p:cNvSpPr/>
          <p:nvPr/>
        </p:nvSpPr>
        <p:spPr>
          <a:xfrm>
            <a:off x="5601970" y="1500505"/>
            <a:ext cx="2270125" cy="183197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endParaRPr lang="en-US"/>
          </a:p>
          <a:p>
            <a:pPr algn="ctr"/>
            <a:r>
              <a:rPr lang="en-US"/>
              <a:t>PHP</a:t>
            </a:r>
            <a:endParaRPr lang="en-US"/>
          </a:p>
        </p:txBody>
      </p:sp>
      <p:sp>
        <p:nvSpPr>
          <p:cNvPr id="9" name="Rectangle 8"/>
          <p:cNvSpPr/>
          <p:nvPr/>
        </p:nvSpPr>
        <p:spPr>
          <a:xfrm>
            <a:off x="5601970" y="1517015"/>
            <a:ext cx="2270125" cy="59563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Xử lý nghiệp vụ</a:t>
            </a:r>
            <a:endParaRPr lang="en-US"/>
          </a:p>
        </p:txBody>
      </p:sp>
      <p:sp>
        <p:nvSpPr>
          <p:cNvPr id="10" name="Rectangle 9"/>
          <p:cNvSpPr/>
          <p:nvPr/>
        </p:nvSpPr>
        <p:spPr>
          <a:xfrm>
            <a:off x="1835150" y="3602990"/>
            <a:ext cx="2271395" cy="161163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MySQL</a:t>
            </a:r>
            <a:endParaRPr lang="en-US"/>
          </a:p>
        </p:txBody>
      </p:sp>
      <p:sp>
        <p:nvSpPr>
          <p:cNvPr id="11" name="Rectangle 10"/>
          <p:cNvSpPr/>
          <p:nvPr/>
        </p:nvSpPr>
        <p:spPr>
          <a:xfrm>
            <a:off x="1835785" y="3602990"/>
            <a:ext cx="2270125" cy="59563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Cơ sở dữ liệu</a:t>
            </a:r>
            <a:endParaRPr lang="en-US"/>
          </a:p>
        </p:txBody>
      </p:sp>
      <p:sp>
        <p:nvSpPr>
          <p:cNvPr id="12" name="Rectangle 11"/>
          <p:cNvSpPr/>
          <p:nvPr/>
        </p:nvSpPr>
        <p:spPr>
          <a:xfrm>
            <a:off x="5036185" y="3602990"/>
            <a:ext cx="2299970" cy="159512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XAMPP</a:t>
            </a:r>
            <a:endParaRPr lang="en-US"/>
          </a:p>
        </p:txBody>
      </p:sp>
      <p:sp>
        <p:nvSpPr>
          <p:cNvPr id="13" name="Rectangle 12"/>
          <p:cNvSpPr/>
          <p:nvPr/>
        </p:nvSpPr>
        <p:spPr>
          <a:xfrm>
            <a:off x="5036820" y="3602990"/>
            <a:ext cx="2270125" cy="59563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Môi tường</a:t>
            </a:r>
            <a:endParaRPr lang="en-US"/>
          </a:p>
        </p:txBody>
      </p:sp>
      <p:sp>
        <p:nvSpPr>
          <p:cNvPr id="14" name="Text Box 13"/>
          <p:cNvSpPr txBox="1"/>
          <p:nvPr/>
        </p:nvSpPr>
        <p:spPr>
          <a:xfrm>
            <a:off x="1137285" y="5501005"/>
            <a:ext cx="6735445" cy="1194435"/>
          </a:xfrm>
          <a:prstGeom prst="rect">
            <a:avLst/>
          </a:prstGeom>
          <a:noFill/>
        </p:spPr>
        <p:txBody>
          <a:bodyPr wrap="square" rtlCol="0">
            <a:noAutofit/>
          </a:bodyPr>
          <a:p>
            <a:r>
              <a:rPr lang="en-US" altLang="en-US">
                <a:latin typeface="Times New Roman" panose="02020603050405020304" charset="0"/>
                <a:cs typeface="Times New Roman" panose="02020603050405020304" charset="0"/>
              </a:rPr>
              <a:t>Hệ thống sử dụng MySQL làm hệ quản trị cơ sở dữ liệu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ể l</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u trữ thông tin ng</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ời dùng, sản phẩm,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ơn hàng và chi tiết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ơn hàng. MySQL có </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u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iểm là dễ triển khai, hiệu n</a:t>
            </a:r>
            <a:r>
              <a:rPr lang="en-US" altLang="en-US">
                <a:latin typeface="Times New Roman" panose="02020603050405020304" charset="0"/>
                <a:cs typeface="Times New Roman" panose="02020603050405020304" charset="0"/>
              </a:rPr>
              <a:t>ă</a:t>
            </a:r>
            <a:r>
              <a:rPr lang="en-US" altLang="en-US">
                <a:latin typeface="Times New Roman" panose="02020603050405020304" charset="0"/>
                <a:cs typeface="Times New Roman" panose="02020603050405020304" charset="0"/>
              </a:rPr>
              <a:t>ng ổn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ịnh và t</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ơng thích tốt với ngôn ngữ PHP.</a:t>
            </a:r>
            <a:endParaRPr lang="en-US">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circle(in)">
                                      <p:cBhvr>
                                        <p:cTn id="15" dur="2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circle(in)">
                                      <p:cBhvr>
                                        <p:cTn id="20" dur="2000"/>
                                        <p:tgtEl>
                                          <p:spTgt spid="6"/>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circle(in)">
                                      <p:cBhvr>
                                        <p:cTn id="23" dur="2000"/>
                                        <p:tgtEl>
                                          <p:spTgt spid="9"/>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circle(in)">
                                      <p:cBhvr>
                                        <p:cTn id="26" dur="2000"/>
                                        <p:tgtEl>
                                          <p:spTgt spid="10"/>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circle(in)">
                                      <p:cBhvr>
                                        <p:cTn id="29" dur="20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circle(in)">
                                      <p:cBhvr>
                                        <p:cTn id="34" dur="2000"/>
                                        <p:tgtEl>
                                          <p:spTgt spid="1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circle(in)">
                                      <p:cBhvr>
                                        <p:cTn id="37" dur="20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ox(in)">
                                      <p:cBhvr>
                                        <p:cTn id="42"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5" grpId="0" animBg="1"/>
      <p:bldP spid="4" grpId="1" animBg="1"/>
      <p:bldP spid="5" grpId="1" animBg="1"/>
      <p:bldP spid="6" grpId="0" animBg="1"/>
      <p:bldP spid="9" grpId="0" animBg="1"/>
      <p:bldP spid="10" grpId="0" animBg="1"/>
      <p:bldP spid="11" grpId="0" animBg="1"/>
      <p:bldP spid="6" grpId="1" animBg="1"/>
      <p:bldP spid="9" grpId="1" animBg="1"/>
      <p:bldP spid="10" grpId="1" animBg="1"/>
      <p:bldP spid="11" grpId="1" animBg="1"/>
      <p:bldP spid="12" grpId="0" animBg="1"/>
      <p:bldP spid="13" grpId="0" animBg="1"/>
      <p:bldP spid="12" grpId="1" animBg="1"/>
      <p:bldP spid="13" grpId="1" animBg="1"/>
      <p:bldP spid="14" grpId="0"/>
      <p:bldP spid="1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lstStyle/>
          <a:p>
            <a:r>
              <a:rPr lang="en-US" b="1">
                <a:latin typeface="Times New Roman" panose="02020603050405020304" charset="0"/>
                <a:cs typeface="Times New Roman" panose="02020603050405020304" charset="0"/>
              </a:rPr>
              <a:t>CẤU TRÚC HỆ THỐNG</a:t>
            </a:r>
            <a:endParaRPr lang="en-US" b="1">
              <a:latin typeface="Times New Roman" panose="02020603050405020304" charset="0"/>
              <a:cs typeface="Times New Roman" panose="02020603050405020304" charset="0"/>
            </a:endParaRPr>
          </a:p>
        </p:txBody>
      </p:sp>
      <p:sp>
        <p:nvSpPr>
          <p:cNvPr id="4" name="Rectangle 3"/>
          <p:cNvSpPr/>
          <p:nvPr/>
        </p:nvSpPr>
        <p:spPr>
          <a:xfrm>
            <a:off x="457200" y="1600200"/>
            <a:ext cx="1534160" cy="106489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TRANG CHỦ</a:t>
            </a:r>
            <a:endParaRPr lang="en-US"/>
          </a:p>
        </p:txBody>
      </p:sp>
      <p:sp>
        <p:nvSpPr>
          <p:cNvPr id="5" name="Rectangle 4"/>
          <p:cNvSpPr/>
          <p:nvPr/>
        </p:nvSpPr>
        <p:spPr>
          <a:xfrm>
            <a:off x="3894455" y="1600200"/>
            <a:ext cx="1563370" cy="106489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MUA HÀNG</a:t>
            </a:r>
            <a:endParaRPr lang="en-US"/>
          </a:p>
        </p:txBody>
      </p:sp>
      <p:sp>
        <p:nvSpPr>
          <p:cNvPr id="6" name="Rectangle 5"/>
          <p:cNvSpPr/>
          <p:nvPr/>
        </p:nvSpPr>
        <p:spPr>
          <a:xfrm>
            <a:off x="7485380" y="1609725"/>
            <a:ext cx="1266825" cy="106489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GIỎ HÀNG</a:t>
            </a:r>
            <a:endParaRPr lang="en-US"/>
          </a:p>
        </p:txBody>
      </p:sp>
      <p:sp>
        <p:nvSpPr>
          <p:cNvPr id="9" name="Rectangle 8"/>
          <p:cNvSpPr/>
          <p:nvPr/>
        </p:nvSpPr>
        <p:spPr>
          <a:xfrm>
            <a:off x="457200" y="3615055"/>
            <a:ext cx="1557020" cy="106489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ĐƠN HÀNG</a:t>
            </a:r>
            <a:endParaRPr lang="en-US"/>
          </a:p>
        </p:txBody>
      </p:sp>
      <p:sp>
        <p:nvSpPr>
          <p:cNvPr id="10" name="Rectangle 9"/>
          <p:cNvSpPr/>
          <p:nvPr/>
        </p:nvSpPr>
        <p:spPr>
          <a:xfrm>
            <a:off x="7485380" y="3615055"/>
            <a:ext cx="1344295" cy="106489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QUẢN LÝ</a:t>
            </a:r>
            <a:endParaRPr lang="en-US"/>
          </a:p>
        </p:txBody>
      </p:sp>
      <p:sp>
        <p:nvSpPr>
          <p:cNvPr id="11" name="Rectangle 10"/>
          <p:cNvSpPr/>
          <p:nvPr/>
        </p:nvSpPr>
        <p:spPr>
          <a:xfrm>
            <a:off x="3894455" y="3615055"/>
            <a:ext cx="1597025" cy="102870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SHOP</a:t>
            </a:r>
            <a:endParaRPr lang="en-US"/>
          </a:p>
        </p:txBody>
      </p:sp>
      <p:sp>
        <p:nvSpPr>
          <p:cNvPr id="14" name="Rectangle 13"/>
          <p:cNvSpPr/>
          <p:nvPr/>
        </p:nvSpPr>
        <p:spPr>
          <a:xfrm>
            <a:off x="2201545" y="2611755"/>
            <a:ext cx="1510030" cy="106489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ĐĂNG KÝ</a:t>
            </a:r>
            <a:endParaRPr lang="en-US"/>
          </a:p>
        </p:txBody>
      </p:sp>
      <p:sp>
        <p:nvSpPr>
          <p:cNvPr id="15" name="Rectangle 14"/>
          <p:cNvSpPr/>
          <p:nvPr/>
        </p:nvSpPr>
        <p:spPr>
          <a:xfrm>
            <a:off x="5776595" y="2611755"/>
            <a:ext cx="1461135" cy="106489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ĐĂNG NHẬP</a:t>
            </a:r>
            <a:endParaRPr lang="en-US"/>
          </a:p>
        </p:txBody>
      </p:sp>
      <p:sp>
        <p:nvSpPr>
          <p:cNvPr id="18" name="Rectangle 17"/>
          <p:cNvSpPr/>
          <p:nvPr/>
        </p:nvSpPr>
        <p:spPr>
          <a:xfrm>
            <a:off x="2263775" y="4815205"/>
            <a:ext cx="1334135" cy="106489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QUẢN LÝ TÀI KHOẢN</a:t>
            </a:r>
            <a:endParaRPr lang="en-US"/>
          </a:p>
        </p:txBody>
      </p:sp>
      <p:sp>
        <p:nvSpPr>
          <p:cNvPr id="22" name="Rectangle 21"/>
          <p:cNvSpPr/>
          <p:nvPr/>
        </p:nvSpPr>
        <p:spPr>
          <a:xfrm>
            <a:off x="5776595" y="4815205"/>
            <a:ext cx="1636395" cy="1064895"/>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t>DOANH THU</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500"/>
                                        <p:tgtEl>
                                          <p:spTgt spid="1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blinds(horizontal)">
                                      <p:cBhvr>
                                        <p:cTn id="30" dur="500"/>
                                        <p:tgtEl>
                                          <p:spTgt spid="11"/>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linds(horizontal)">
                                      <p:cBhvr>
                                        <p:cTn id="33" dur="500"/>
                                        <p:tgtEl>
                                          <p:spTgt spid="14"/>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blinds(horizontal)">
                                      <p:cBhvr>
                                        <p:cTn id="36" dur="500"/>
                                        <p:tgtEl>
                                          <p:spTgt spid="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linds(horizontal)">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5" grpId="0" animBg="1"/>
      <p:bldP spid="6" grpId="0" animBg="1"/>
      <p:bldP spid="15" grpId="0" animBg="1"/>
      <p:bldP spid="10" grpId="0" animBg="1"/>
      <p:bldP spid="22" grpId="0" animBg="1"/>
      <p:bldP spid="11" grpId="0" animBg="1"/>
      <p:bldP spid="14" grpId="0" animBg="1"/>
      <p:bldP spid="9" grpId="0" animBg="1"/>
      <p:bldP spid="18" grpId="0" animBg="1"/>
      <p:bldP spid="4" grpId="1" animBg="1"/>
      <p:bldP spid="5" grpId="1" animBg="1"/>
      <p:bldP spid="6" grpId="1" animBg="1"/>
      <p:bldP spid="15" grpId="1" animBg="1"/>
      <p:bldP spid="10" grpId="1" animBg="1"/>
      <p:bldP spid="22" grpId="1" animBg="1"/>
      <p:bldP spid="11" grpId="1" animBg="1"/>
      <p:bldP spid="14" grpId="1" animBg="1"/>
      <p:bldP spid="9" grpId="1" animBg="1"/>
      <p:bldP spid="18"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lstStyle/>
          <a:p>
            <a:r>
              <a:rPr lang="en-US" b="1">
                <a:latin typeface="Times New Roman" panose="02020603050405020304" charset="0"/>
                <a:cs typeface="Times New Roman" panose="02020603050405020304" charset="0"/>
              </a:rPr>
              <a:t>TRANG CHỦ</a:t>
            </a:r>
            <a:endParaRPr lang="en-US" b="1">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0" y="1428750"/>
            <a:ext cx="9144000" cy="2845435"/>
          </a:xfrm>
          <a:prstGeom prst="rect">
            <a:avLst/>
          </a:prstGeom>
        </p:spPr>
      </p:pic>
      <p:pic>
        <p:nvPicPr>
          <p:cNvPr id="6" name="Picture 5"/>
          <p:cNvPicPr>
            <a:picLocks noChangeAspect="1"/>
          </p:cNvPicPr>
          <p:nvPr/>
        </p:nvPicPr>
        <p:blipFill>
          <a:blip r:embed="rId2"/>
          <a:stretch>
            <a:fillRect/>
          </a:stretch>
        </p:blipFill>
        <p:spPr>
          <a:xfrm>
            <a:off x="0" y="4232275"/>
            <a:ext cx="9144000" cy="27438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checkerboard(across)">
                                      <p:cBhvr>
                                        <p:cTn id="10" dur="500"/>
                                        <p:tgtEl>
                                          <p:spTgt spid="4"/>
                                        </p:tgtEl>
                                      </p:cBhvr>
                                    </p:animEffect>
                                  </p:childTnLst>
                                </p:cTn>
                              </p:par>
                              <p:par>
                                <p:cTn id="11" presetID="5"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p>
            <a:r>
              <a:rPr lang="en-US" b="1">
                <a:latin typeface="Times New Roman" panose="02020603050405020304" charset="0"/>
                <a:cs typeface="Times New Roman" panose="02020603050405020304" charset="0"/>
              </a:rPr>
              <a:t>MUA HÀNG</a:t>
            </a:r>
            <a:endParaRPr lang="en-US" b="1">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0" y="1951990"/>
            <a:ext cx="9144000" cy="38620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ox(in)">
                                      <p:cBhvr>
                                        <p:cTn id="1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p>
            <a:r>
              <a:rPr lang="en-US" b="1">
                <a:latin typeface="Times New Roman" panose="02020603050405020304" charset="0"/>
                <a:cs typeface="Times New Roman" panose="02020603050405020304" charset="0"/>
              </a:rPr>
              <a:t>GIỎ HÀNG</a:t>
            </a:r>
            <a:endParaRPr lang="en-US" b="1">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581025" y="1600200"/>
            <a:ext cx="7980680" cy="4526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checkerboard(across)">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p>
            <a:r>
              <a:rPr lang="en-US" b="1">
                <a:latin typeface="Times New Roman" panose="02020603050405020304" charset="0"/>
                <a:cs typeface="Times New Roman" panose="02020603050405020304" charset="0"/>
              </a:rPr>
              <a:t>ĐĂNG KÝ VÀ ĐĂNG NHẬP</a:t>
            </a:r>
            <a:endParaRPr lang="en-US" b="1">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850265" y="1695450"/>
            <a:ext cx="3602990" cy="4248785"/>
          </a:xfrm>
          <a:prstGeom prst="rect">
            <a:avLst/>
          </a:prstGeom>
        </p:spPr>
      </p:pic>
      <p:pic>
        <p:nvPicPr>
          <p:cNvPr id="5" name="Picture 4"/>
          <p:cNvPicPr>
            <a:picLocks noChangeAspect="1"/>
          </p:cNvPicPr>
          <p:nvPr/>
        </p:nvPicPr>
        <p:blipFill>
          <a:blip r:embed="rId2"/>
          <a:stretch>
            <a:fillRect/>
          </a:stretch>
        </p:blipFill>
        <p:spPr>
          <a:xfrm>
            <a:off x="4919980" y="1695450"/>
            <a:ext cx="3971925" cy="45383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p>
            <a:r>
              <a:rPr lang="en-US" b="1">
                <a:latin typeface="Times New Roman" panose="02020603050405020304" charset="0"/>
                <a:cs typeface="Times New Roman" panose="02020603050405020304" charset="0"/>
              </a:rPr>
              <a:t>QUẢN LÝ ĐƠN HÀNG</a:t>
            </a:r>
            <a:endParaRPr lang="en-US" b="1">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457200" y="1845945"/>
            <a:ext cx="8229600" cy="40335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ox(in)">
                                      <p:cBhvr>
                                        <p:cTn id="1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p>
            <a:r>
              <a:rPr lang="en-US" b="1">
                <a:latin typeface="Times New Roman" panose="02020603050405020304" charset="0"/>
                <a:cs typeface="Times New Roman" panose="02020603050405020304" charset="0"/>
              </a:rPr>
              <a:t>SHOP BÁN HÀNG</a:t>
            </a:r>
            <a:endParaRPr lang="en-US" b="1">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457200" y="1564005"/>
            <a:ext cx="8229600" cy="2212975"/>
          </a:xfrm>
          <a:prstGeom prst="rect">
            <a:avLst/>
          </a:prstGeom>
        </p:spPr>
      </p:pic>
      <p:pic>
        <p:nvPicPr>
          <p:cNvPr id="5" name="Picture 4"/>
          <p:cNvPicPr>
            <a:picLocks noChangeAspect="1"/>
          </p:cNvPicPr>
          <p:nvPr/>
        </p:nvPicPr>
        <p:blipFill>
          <a:blip r:embed="rId2"/>
          <a:stretch>
            <a:fillRect/>
          </a:stretch>
        </p:blipFill>
        <p:spPr>
          <a:xfrm>
            <a:off x="421640" y="4124325"/>
            <a:ext cx="8310245" cy="27336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checkerboard(across)">
                                      <p:cBhvr>
                                        <p:cTn id="10" dur="500"/>
                                        <p:tgtEl>
                                          <p:spTgt spid="4"/>
                                        </p:tgtEl>
                                      </p:cBhvr>
                                    </p:animEffect>
                                  </p:childTnLst>
                                </p:cTn>
                              </p:par>
                              <p:par>
                                <p:cTn id="11" presetID="5"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545148"/>
            <a:ext cx="8229600" cy="1143000"/>
          </a:xfrm>
        </p:spPr>
        <p:style>
          <a:lnRef idx="3">
            <a:schemeClr val="accent1"/>
          </a:lnRef>
          <a:fillRef idx="0">
            <a:srgbClr val="FFFFFF"/>
          </a:fillRef>
          <a:effectRef idx="0">
            <a:srgbClr val="FFFFFF"/>
          </a:effectRef>
          <a:fontRef idx="minor">
            <a:schemeClr val="tx1"/>
          </a:fontRef>
        </p:style>
        <p:txBody>
          <a:bodyPr/>
          <a:p>
            <a:r>
              <a:rPr lang="en-US" b="1">
                <a:latin typeface="Times New Roman" panose="02020603050405020304" charset="0"/>
                <a:cs typeface="Times New Roman" panose="02020603050405020304" charset="0"/>
              </a:rPr>
              <a:t>QUẢN LÝ	</a:t>
            </a:r>
            <a:endParaRPr lang="en-US" b="1">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925830" y="1688465"/>
            <a:ext cx="7292340" cy="2242820"/>
          </a:xfrm>
          <a:prstGeom prst="rect">
            <a:avLst/>
          </a:prstGeom>
        </p:spPr>
      </p:pic>
      <p:pic>
        <p:nvPicPr>
          <p:cNvPr id="5" name="Picture 4"/>
          <p:cNvPicPr>
            <a:picLocks noChangeAspect="1"/>
          </p:cNvPicPr>
          <p:nvPr/>
        </p:nvPicPr>
        <p:blipFill>
          <a:blip r:embed="rId2"/>
          <a:stretch>
            <a:fillRect/>
          </a:stretch>
        </p:blipFill>
        <p:spPr>
          <a:xfrm>
            <a:off x="925830" y="4239260"/>
            <a:ext cx="7306310" cy="26187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p>
            <a:r>
              <a:rPr lang="en-US">
                <a:latin typeface="Times New Roman" panose="02020603050405020304" charset="0"/>
                <a:cs typeface="Times New Roman" panose="02020603050405020304" charset="0"/>
              </a:rPr>
              <a:t>QUẢN LÝ TÀI KHOẢN</a:t>
            </a:r>
            <a:endParaRPr lang="en-US">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457200" y="1591310"/>
            <a:ext cx="8229600" cy="2087880"/>
          </a:xfrm>
          <a:prstGeom prst="rect">
            <a:avLst/>
          </a:prstGeom>
        </p:spPr>
      </p:pic>
      <p:pic>
        <p:nvPicPr>
          <p:cNvPr id="6" name="Picture 5"/>
          <p:cNvPicPr>
            <a:picLocks noChangeAspect="1"/>
          </p:cNvPicPr>
          <p:nvPr/>
        </p:nvPicPr>
        <p:blipFill>
          <a:blip r:embed="rId2"/>
          <a:stretch>
            <a:fillRect/>
          </a:stretch>
        </p:blipFill>
        <p:spPr>
          <a:xfrm>
            <a:off x="493395" y="3850640"/>
            <a:ext cx="8193405" cy="24980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checkerboard(across)">
                                      <p:cBhvr>
                                        <p:cTn id="10" dur="500"/>
                                        <p:tgtEl>
                                          <p:spTgt spid="4"/>
                                        </p:tgtEl>
                                      </p:cBhvr>
                                    </p:animEffect>
                                  </p:childTnLst>
                                </p:cTn>
                              </p:par>
                              <p:par>
                                <p:cTn id="11" presetID="5"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p>
            <a:r>
              <a:rPr lang="en-US">
                <a:latin typeface="Times New Roman" panose="02020603050405020304" charset="0"/>
                <a:cs typeface="Times New Roman" panose="02020603050405020304" charset="0"/>
              </a:rPr>
              <a:t>DOANH THU</a:t>
            </a:r>
            <a:endParaRPr lang="en-US">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457200" y="1311275"/>
            <a:ext cx="8229600" cy="2288540"/>
          </a:xfrm>
          <a:prstGeom prst="rect">
            <a:avLst/>
          </a:prstGeom>
        </p:spPr>
      </p:pic>
      <p:pic>
        <p:nvPicPr>
          <p:cNvPr id="5" name="Picture 4"/>
          <p:cNvPicPr>
            <a:picLocks noChangeAspect="1"/>
          </p:cNvPicPr>
          <p:nvPr/>
        </p:nvPicPr>
        <p:blipFill>
          <a:blip r:embed="rId2"/>
          <a:stretch>
            <a:fillRect/>
          </a:stretch>
        </p:blipFill>
        <p:spPr>
          <a:xfrm>
            <a:off x="443865" y="4131310"/>
            <a:ext cx="8242935" cy="2542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p>
            <a:r>
              <a:rPr lang="en-US" b="1">
                <a:latin typeface="Times New Roman" panose="02020603050405020304" charset="0"/>
                <a:cs typeface="Times New Roman" panose="02020603050405020304" charset="0"/>
              </a:rPr>
              <a:t>KẾT QUẢ THỰC NGHIỆM</a:t>
            </a:r>
            <a:endParaRPr lang="en-US" b="1">
              <a:latin typeface="Times New Roman" panose="02020603050405020304" charset="0"/>
              <a:cs typeface="Times New Roman" panose="02020603050405020304" charset="0"/>
            </a:endParaRPr>
          </a:p>
        </p:txBody>
      </p:sp>
      <p:sp>
        <p:nvSpPr>
          <p:cNvPr id="4" name="Rectangle 3"/>
          <p:cNvSpPr/>
          <p:nvPr/>
        </p:nvSpPr>
        <p:spPr>
          <a:xfrm>
            <a:off x="457200" y="1600200"/>
            <a:ext cx="2291080" cy="276987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marL="285750" indent="-285750" algn="ctr">
              <a:buFont typeface="Wingdings" panose="05000000000000000000" charset="0"/>
              <a:buChar char="ü"/>
            </a:pPr>
            <a:endParaRPr lang="en-US">
              <a:latin typeface="Times New Roman" panose="02020603050405020304" charset="0"/>
              <a:cs typeface="Times New Roman" panose="02020603050405020304" charset="0"/>
            </a:endParaRPr>
          </a:p>
          <a:p>
            <a:pPr marL="285750" indent="-285750" algn="ctr">
              <a:buFont typeface="Wingdings" panose="05000000000000000000" charset="0"/>
              <a:buChar char="ü"/>
            </a:pPr>
            <a:endParaRPr lang="en-US">
              <a:latin typeface="Times New Roman" panose="02020603050405020304" charset="0"/>
              <a:cs typeface="Times New Roman" panose="02020603050405020304" charset="0"/>
            </a:endParaRPr>
          </a:p>
          <a:p>
            <a:pPr marL="285750" indent="-285750" algn="ctr">
              <a:buFont typeface="Wingdings" panose="05000000000000000000" charset="0"/>
              <a:buChar char="ü"/>
            </a:pP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Xem sản phẩm</a:t>
            </a: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Giỏ hàng</a:t>
            </a: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Mua hàng</a:t>
            </a:r>
            <a:endParaRPr lang="en-US">
              <a:latin typeface="Times New Roman" panose="02020603050405020304" charset="0"/>
              <a:cs typeface="Times New Roman" panose="02020603050405020304" charset="0"/>
            </a:endParaRPr>
          </a:p>
        </p:txBody>
      </p:sp>
      <p:sp>
        <p:nvSpPr>
          <p:cNvPr id="5" name="Rectangle 4"/>
          <p:cNvSpPr/>
          <p:nvPr/>
        </p:nvSpPr>
        <p:spPr>
          <a:xfrm>
            <a:off x="3338830" y="3989705"/>
            <a:ext cx="2291080" cy="253746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endParaRPr lang="en-US">
              <a:latin typeface="Times New Roman" panose="02020603050405020304" charset="0"/>
              <a:cs typeface="Times New Roman" panose="02020603050405020304" charset="0"/>
            </a:endParaRPr>
          </a:p>
          <a:p>
            <a:pPr algn="ct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Hoạt động ổn định</a:t>
            </a: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Dễ sử dụng</a:t>
            </a: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Đúng yêu cầu</a:t>
            </a:r>
            <a:endParaRPr lang="en-US">
              <a:latin typeface="Times New Roman" panose="02020603050405020304" charset="0"/>
              <a:cs typeface="Times New Roman" panose="02020603050405020304" charset="0"/>
            </a:endParaRPr>
          </a:p>
        </p:txBody>
      </p:sp>
      <p:sp>
        <p:nvSpPr>
          <p:cNvPr id="6" name="Rectangle 5"/>
          <p:cNvSpPr/>
          <p:nvPr/>
        </p:nvSpPr>
        <p:spPr>
          <a:xfrm>
            <a:off x="6395720" y="1600200"/>
            <a:ext cx="2291080" cy="2769870"/>
          </a:xfrm>
          <a:prstGeom prst="rect">
            <a:avLst/>
          </a:prstGeom>
        </p:spPr>
        <p:style>
          <a:lnRef idx="1">
            <a:schemeClr val="accent1"/>
          </a:lnRef>
          <a:fillRef idx="3">
            <a:schemeClr val="accent1"/>
          </a:fillRef>
          <a:effectRef idx="2">
            <a:schemeClr val="accent1"/>
          </a:effectRef>
          <a:fontRef idx="minor">
            <a:schemeClr val="lt1"/>
          </a:fontRef>
        </p:style>
        <p:txBody>
          <a:bodyPr anchor="ctr" anchorCtr="0"/>
          <a:p>
            <a:pPr algn="ctr"/>
            <a:endParaRPr lang="en-US">
              <a:latin typeface="Times New Roman" panose="02020603050405020304" charset="0"/>
              <a:cs typeface="Times New Roman" panose="02020603050405020304" charset="0"/>
            </a:endParaRPr>
          </a:p>
          <a:p>
            <a:pPr algn="ct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Quản lý sản phẩm</a:t>
            </a: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Quản lý đơn hàng</a:t>
            </a: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Thống kê</a:t>
            </a:r>
            <a:endParaRPr lang="en-US">
              <a:latin typeface="Times New Roman" panose="02020603050405020304" charset="0"/>
              <a:cs typeface="Times New Roman" panose="02020603050405020304" charset="0"/>
            </a:endParaRPr>
          </a:p>
          <a:p>
            <a:pPr marL="285750" indent="-285750" algn="l">
              <a:buFont typeface="Wingdings" panose="05000000000000000000" charset="0"/>
              <a:buChar char="ü"/>
            </a:pPr>
            <a:r>
              <a:rPr lang="en-US">
                <a:latin typeface="Times New Roman" panose="02020603050405020304" charset="0"/>
                <a:cs typeface="Times New Roman" panose="02020603050405020304" charset="0"/>
              </a:rPr>
              <a:t>Quản lý người dùng</a:t>
            </a:r>
            <a:endParaRPr lang="en-US">
              <a:latin typeface="Times New Roman" panose="02020603050405020304" charset="0"/>
              <a:cs typeface="Times New Roman" panose="02020603050405020304" charset="0"/>
            </a:endParaRPr>
          </a:p>
        </p:txBody>
      </p:sp>
      <p:sp>
        <p:nvSpPr>
          <p:cNvPr id="7" name="Rounded Rectangle 6"/>
          <p:cNvSpPr/>
          <p:nvPr/>
        </p:nvSpPr>
        <p:spPr>
          <a:xfrm>
            <a:off x="457200" y="1600200"/>
            <a:ext cx="2291715" cy="914400"/>
          </a:xfrm>
          <a:prstGeom prst="round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atin typeface="Times New Roman" panose="02020603050405020304" charset="0"/>
                <a:cs typeface="Times New Roman" panose="02020603050405020304" charset="0"/>
              </a:rPr>
              <a:t>NGƯỜI DÙNG</a:t>
            </a:r>
            <a:endParaRPr lang="en-US">
              <a:latin typeface="Times New Roman" panose="02020603050405020304" charset="0"/>
              <a:cs typeface="Times New Roman" panose="02020603050405020304" charset="0"/>
            </a:endParaRPr>
          </a:p>
        </p:txBody>
      </p:sp>
      <p:sp>
        <p:nvSpPr>
          <p:cNvPr id="8" name="Rounded Rectangle 7"/>
          <p:cNvSpPr/>
          <p:nvPr/>
        </p:nvSpPr>
        <p:spPr>
          <a:xfrm>
            <a:off x="3338195" y="3989705"/>
            <a:ext cx="2291715" cy="914400"/>
          </a:xfrm>
          <a:prstGeom prst="round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atin typeface="Times New Roman" panose="02020603050405020304" charset="0"/>
                <a:cs typeface="Times New Roman" panose="02020603050405020304" charset="0"/>
              </a:rPr>
              <a:t>KẾT QUẢ ĐẠT ĐƯỢC</a:t>
            </a:r>
            <a:endParaRPr lang="en-US">
              <a:latin typeface="Times New Roman" panose="02020603050405020304" charset="0"/>
              <a:cs typeface="Times New Roman" panose="02020603050405020304" charset="0"/>
            </a:endParaRPr>
          </a:p>
        </p:txBody>
      </p:sp>
      <p:sp>
        <p:nvSpPr>
          <p:cNvPr id="9" name="Rounded Rectangle 8"/>
          <p:cNvSpPr/>
          <p:nvPr/>
        </p:nvSpPr>
        <p:spPr>
          <a:xfrm>
            <a:off x="6395085" y="1600200"/>
            <a:ext cx="2291715" cy="914400"/>
          </a:xfrm>
          <a:prstGeom prst="roundRect">
            <a:avLst/>
          </a:prstGeom>
        </p:spPr>
        <p:style>
          <a:lnRef idx="1">
            <a:schemeClr val="accent1"/>
          </a:lnRef>
          <a:fillRef idx="3">
            <a:schemeClr val="accent1"/>
          </a:fillRef>
          <a:effectRef idx="2">
            <a:schemeClr val="accent1"/>
          </a:effectRef>
          <a:fontRef idx="minor">
            <a:schemeClr val="lt1"/>
          </a:fontRef>
        </p:style>
        <p:txBody>
          <a:bodyPr anchor="ctr" anchorCtr="0"/>
          <a:p>
            <a:pPr algn="ctr"/>
            <a:r>
              <a:rPr lang="en-US">
                <a:latin typeface="Times New Roman" panose="02020603050405020304" charset="0"/>
                <a:cs typeface="Times New Roman" panose="02020603050405020304" charset="0"/>
              </a:rPr>
              <a:t>QUẢN LÝ</a:t>
            </a:r>
            <a:endParaRPr lang="en-US">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ircle(in)">
                                      <p:cBhvr>
                                        <p:cTn id="15" dur="2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linds(horizontal)">
                                      <p:cBhvr>
                                        <p:cTn id="20" dur="500"/>
                                        <p:tgtEl>
                                          <p:spTgt spid="6"/>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checkerboard(across)">
                                      <p:cBhvr>
                                        <p:cTn id="28" dur="500"/>
                                        <p:tgtEl>
                                          <p:spTgt spid="8"/>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checkerboard(across)">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7" grpId="0" animBg="1"/>
      <p:bldP spid="4" grpId="1" animBg="1"/>
      <p:bldP spid="7" grpId="1" animBg="1"/>
      <p:bldP spid="6" grpId="0" animBg="1"/>
      <p:bldP spid="9" grpId="0" animBg="1"/>
      <p:bldP spid="6" grpId="1" animBg="1"/>
      <p:bldP spid="9" grpId="1" animBg="1"/>
      <p:bldP spid="8" grpId="0" animBg="1"/>
      <p:bldP spid="5" grpId="0" animBg="1"/>
      <p:bldP spid="8" grpId="1" animBg="1"/>
      <p:bldP spid="5"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lstStyle/>
          <a:p>
            <a:r>
              <a:rPr b="1">
                <a:latin typeface="Times New Roman" panose="02020603050405020304" charset="0"/>
                <a:cs typeface="Times New Roman" panose="02020603050405020304" charset="0"/>
              </a:rPr>
              <a:t>Hướng phát triển</a:t>
            </a:r>
            <a:endParaRPr b="1">
              <a:latin typeface="Times New Roman" panose="02020603050405020304" charset="0"/>
              <a:cs typeface="Times New Roman" panose="02020603050405020304" charset="0"/>
            </a:endParaRPr>
          </a:p>
        </p:txBody>
      </p:sp>
      <p:sp>
        <p:nvSpPr>
          <p:cNvPr id="4" name="Rectangle 3"/>
          <p:cNvSpPr/>
          <p:nvPr/>
        </p:nvSpPr>
        <p:spPr>
          <a:xfrm>
            <a:off x="139700" y="1487805"/>
            <a:ext cx="3583940" cy="1481455"/>
          </a:xfrm>
          <a:prstGeom prst="rect">
            <a:avLst/>
          </a:prstGeom>
        </p:spPr>
        <p:style>
          <a:lnRef idx="1">
            <a:schemeClr val="accent1"/>
          </a:lnRef>
          <a:fillRef idx="3">
            <a:schemeClr val="accent1"/>
          </a:fillRef>
          <a:effectRef idx="2">
            <a:schemeClr val="accent1"/>
          </a:effectRef>
          <a:fontRef idx="minor">
            <a:schemeClr val="lt1"/>
          </a:fontRef>
        </p:style>
        <p:txBody>
          <a:bodyPr/>
          <a:p>
            <a:r>
              <a:rPr lang="en-US" b="1">
                <a:latin typeface="Times New Roman" panose="02020603050405020304" charset="0"/>
                <a:cs typeface="Times New Roman" panose="02020603050405020304" charset="0"/>
              </a:rPr>
              <a:t>Hoàn thiện chức năng người dùng</a:t>
            </a:r>
            <a:endParaRPr lang="en-US" b="1">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Cập nhật thông tin cá nhân</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Quản lý địa chỉ giao hàng</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Theo dõi trạng thái đơn </a:t>
            </a:r>
            <a:endParaRPr lang="en-US">
              <a:latin typeface="Times New Roman" panose="02020603050405020304" charset="0"/>
              <a:cs typeface="Times New Roman" panose="02020603050405020304" charset="0"/>
            </a:endParaRPr>
          </a:p>
        </p:txBody>
      </p:sp>
      <p:sp>
        <p:nvSpPr>
          <p:cNvPr id="6" name="Rectangle 5"/>
          <p:cNvSpPr/>
          <p:nvPr/>
        </p:nvSpPr>
        <p:spPr>
          <a:xfrm>
            <a:off x="139700" y="3343275"/>
            <a:ext cx="3583940" cy="1481455"/>
          </a:xfrm>
          <a:prstGeom prst="rect">
            <a:avLst/>
          </a:prstGeom>
        </p:spPr>
        <p:style>
          <a:lnRef idx="1">
            <a:schemeClr val="accent1"/>
          </a:lnRef>
          <a:fillRef idx="3">
            <a:schemeClr val="accent1"/>
          </a:fillRef>
          <a:effectRef idx="2">
            <a:schemeClr val="accent1"/>
          </a:effectRef>
          <a:fontRef idx="minor">
            <a:schemeClr val="lt1"/>
          </a:fontRef>
        </p:style>
        <p:txBody>
          <a:bodyPr/>
          <a:p>
            <a:r>
              <a:rPr lang="en-US" b="1">
                <a:latin typeface="Times New Roman" panose="02020603050405020304" charset="0"/>
                <a:cs typeface="Times New Roman" panose="02020603050405020304" charset="0"/>
              </a:rPr>
              <a:t>Mở rộng chức năng người bán</a:t>
            </a:r>
            <a:endParaRPr lang="en-US" b="1">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Quản lý kho hàng</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Thống kê doanh thu theo ngày</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Quản lý khuyến mãi</a:t>
            </a:r>
            <a:endParaRPr lang="en-US">
              <a:latin typeface="Times New Roman" panose="02020603050405020304" charset="0"/>
              <a:cs typeface="Times New Roman" panose="02020603050405020304" charset="0"/>
            </a:endParaRPr>
          </a:p>
        </p:txBody>
      </p:sp>
      <p:sp>
        <p:nvSpPr>
          <p:cNvPr id="7" name="Rectangle 6"/>
          <p:cNvSpPr/>
          <p:nvPr/>
        </p:nvSpPr>
        <p:spPr>
          <a:xfrm>
            <a:off x="139700" y="5334635"/>
            <a:ext cx="3583940" cy="1464945"/>
          </a:xfrm>
          <a:prstGeom prst="rect">
            <a:avLst/>
          </a:prstGeom>
        </p:spPr>
        <p:style>
          <a:lnRef idx="1">
            <a:schemeClr val="accent1"/>
          </a:lnRef>
          <a:fillRef idx="3">
            <a:schemeClr val="accent1"/>
          </a:fillRef>
          <a:effectRef idx="2">
            <a:schemeClr val="accent1"/>
          </a:effectRef>
          <a:fontRef idx="minor">
            <a:schemeClr val="lt1"/>
          </a:fontRef>
        </p:style>
        <p:txBody>
          <a:bodyPr/>
          <a:p>
            <a:r>
              <a:rPr lang="en-US" b="1">
                <a:latin typeface="Times New Roman" panose="02020603050405020304" charset="0"/>
                <a:cs typeface="Times New Roman" panose="02020603050405020304" charset="0"/>
              </a:rPr>
              <a:t>Tăng cường bảo mật</a:t>
            </a:r>
            <a:endParaRPr lang="en-US" b="1">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Mã hóa mật khẩu</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Phân quyền người dùng chặt chẽ</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Chống SQL Injection và CSRF</a:t>
            </a:r>
            <a:endParaRPr lang="en-US" altLang="en-US">
              <a:latin typeface="Times New Roman" panose="02020603050405020304" charset="0"/>
              <a:cs typeface="Times New Roman" panose="02020603050405020304" charset="0"/>
            </a:endParaRPr>
          </a:p>
        </p:txBody>
      </p:sp>
      <p:sp>
        <p:nvSpPr>
          <p:cNvPr id="8" name="Rectangle 7"/>
          <p:cNvSpPr/>
          <p:nvPr/>
        </p:nvSpPr>
        <p:spPr>
          <a:xfrm>
            <a:off x="5387340" y="5334635"/>
            <a:ext cx="3583940" cy="1481455"/>
          </a:xfrm>
          <a:prstGeom prst="rect">
            <a:avLst/>
          </a:prstGeom>
        </p:spPr>
        <p:style>
          <a:lnRef idx="1">
            <a:schemeClr val="accent1"/>
          </a:lnRef>
          <a:fillRef idx="3">
            <a:schemeClr val="accent1"/>
          </a:fillRef>
          <a:effectRef idx="2">
            <a:schemeClr val="accent1"/>
          </a:effectRef>
          <a:fontRef idx="minor">
            <a:schemeClr val="lt1"/>
          </a:fontRef>
        </p:style>
        <p:txBody>
          <a:bodyPr/>
          <a:p>
            <a:r>
              <a:rPr lang="en-US" b="1">
                <a:latin typeface="Times New Roman" panose="02020603050405020304" charset="0"/>
                <a:cs typeface="Times New Roman" panose="02020603050405020304" charset="0"/>
              </a:rPr>
              <a:t>Phát triển đã nền tảng</a:t>
            </a:r>
            <a:endParaRPr lang="en-US" b="1">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Xây dựng API cho hệ thống.</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Phát triển ứng dụng Android/iOS.</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Triển khai trên môi tr</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ờng Cloud.</a:t>
            </a:r>
            <a:endParaRPr lang="en-US" altLang="en-US">
              <a:latin typeface="Times New Roman" panose="02020603050405020304" charset="0"/>
              <a:cs typeface="Times New Roman" panose="02020603050405020304" charset="0"/>
            </a:endParaRPr>
          </a:p>
        </p:txBody>
      </p:sp>
      <p:sp>
        <p:nvSpPr>
          <p:cNvPr id="9" name="Rectangle 8"/>
          <p:cNvSpPr/>
          <p:nvPr/>
        </p:nvSpPr>
        <p:spPr>
          <a:xfrm>
            <a:off x="5387340" y="3343275"/>
            <a:ext cx="3583940" cy="1481455"/>
          </a:xfrm>
          <a:prstGeom prst="rect">
            <a:avLst/>
          </a:prstGeom>
        </p:spPr>
        <p:style>
          <a:lnRef idx="1">
            <a:schemeClr val="accent1"/>
          </a:lnRef>
          <a:fillRef idx="3">
            <a:schemeClr val="accent1"/>
          </a:fillRef>
          <a:effectRef idx="2">
            <a:schemeClr val="accent1"/>
          </a:effectRef>
          <a:fontRef idx="minor">
            <a:schemeClr val="lt1"/>
          </a:fontRef>
        </p:style>
        <p:txBody>
          <a:bodyPr/>
          <a:p>
            <a:r>
              <a:rPr lang="en-US" b="1">
                <a:latin typeface="Times New Roman" panose="02020603050405020304" charset="0"/>
                <a:cs typeface="Times New Roman" panose="02020603050405020304" charset="0"/>
              </a:rPr>
              <a:t>Tích hợp thanh toán trực tuyến</a:t>
            </a:r>
            <a:endParaRPr lang="en-US" b="1">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Thanh toán qua Momo</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Thanh toán qua tài khoản </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Thanh toán qua VNPay</a:t>
            </a:r>
            <a:endParaRPr lang="en-US">
              <a:latin typeface="Times New Roman" panose="02020603050405020304" charset="0"/>
              <a:cs typeface="Times New Roman" panose="02020603050405020304" charset="0"/>
            </a:endParaRPr>
          </a:p>
        </p:txBody>
      </p:sp>
      <p:sp>
        <p:nvSpPr>
          <p:cNvPr id="10" name="Rectangle 9"/>
          <p:cNvSpPr/>
          <p:nvPr/>
        </p:nvSpPr>
        <p:spPr>
          <a:xfrm>
            <a:off x="5387340" y="1487805"/>
            <a:ext cx="3583940" cy="1481455"/>
          </a:xfrm>
          <a:prstGeom prst="rect">
            <a:avLst/>
          </a:prstGeom>
        </p:spPr>
        <p:style>
          <a:lnRef idx="1">
            <a:schemeClr val="accent1"/>
          </a:lnRef>
          <a:fillRef idx="3">
            <a:schemeClr val="accent1"/>
          </a:fillRef>
          <a:effectRef idx="2">
            <a:schemeClr val="accent1"/>
          </a:effectRef>
          <a:fontRef idx="minor">
            <a:schemeClr val="lt1"/>
          </a:fontRef>
        </p:style>
        <p:txBody>
          <a:bodyPr/>
          <a:p>
            <a:r>
              <a:rPr lang="en-US" b="1">
                <a:latin typeface="Times New Roman" panose="02020603050405020304" charset="0"/>
                <a:cs typeface="Times New Roman" panose="02020603050405020304" charset="0"/>
              </a:rPr>
              <a:t>Nâng cấp trải nghiệm mua sắm</a:t>
            </a:r>
            <a:endParaRPr lang="en-US" b="1">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Tìm kiếm và lọc sản phẩm</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Đánh giá,bình luận sản phẩm</a:t>
            </a:r>
            <a:endParaRPr 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atin typeface="Times New Roman" panose="02020603050405020304" charset="0"/>
                <a:cs typeface="Times New Roman" panose="02020603050405020304" charset="0"/>
              </a:rPr>
              <a:t>Gợi ý sản phẩm</a:t>
            </a:r>
            <a:endParaRPr lang="en-US">
              <a:latin typeface="Times New Roman" panose="02020603050405020304" charset="0"/>
              <a:cs typeface="Times New Roman" panose="02020603050405020304" charset="0"/>
            </a:endParaRPr>
          </a:p>
        </p:txBody>
      </p:sp>
      <p:sp>
        <p:nvSpPr>
          <p:cNvPr id="11" name="Text Box 10"/>
          <p:cNvSpPr txBox="1"/>
          <p:nvPr/>
        </p:nvSpPr>
        <p:spPr>
          <a:xfrm>
            <a:off x="1605915" y="996315"/>
            <a:ext cx="3048000" cy="368300"/>
          </a:xfrm>
          <a:prstGeom prst="rect">
            <a:avLst/>
          </a:prstGeom>
          <a:noFill/>
        </p:spPr>
        <p:txBody>
          <a:bodyPr wrap="square" rtlCol="0">
            <a:spAutoFit/>
          </a:bodyPr>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ox(in)">
                                      <p:cBhvr>
                                        <p:cTn id="27" dur="2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box(in)">
                                      <p:cBhvr>
                                        <p:cTn id="32" dur="20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ox(in)">
                                      <p:cBhvr>
                                        <p:cTn id="3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10" grpId="0" animBg="1"/>
      <p:bldP spid="10" grpId="1" animBg="1"/>
      <p:bldP spid="6" grpId="0" animBg="1"/>
      <p:bldP spid="6" grpId="1" animBg="1"/>
      <p:bldP spid="9" grpId="0" animBg="1"/>
      <p:bldP spid="9" grpId="1" animBg="1"/>
      <p:bldP spid="8" grpId="0" animBg="1"/>
      <p:bldP spid="8"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lstStyle/>
          <a:p>
            <a:r>
              <a:rPr b="1">
                <a:latin typeface="Times New Roman" panose="02020603050405020304" charset="0"/>
                <a:cs typeface="Times New Roman" panose="02020603050405020304" charset="0"/>
              </a:rPr>
              <a:t>Kết luận</a:t>
            </a:r>
            <a:endParaRPr b="1">
              <a:latin typeface="Times New Roman" panose="02020603050405020304" charset="0"/>
              <a:cs typeface="Times New Roman" panose="02020603050405020304" charset="0"/>
            </a:endParaRPr>
          </a:p>
        </p:txBody>
      </p:sp>
      <p:sp>
        <p:nvSpPr>
          <p:cNvPr id="3" name="Content Placeholder 2" descr="7b0a202020202262756c6c6574223a20227b5c2263617465676f727949645c223a5c225c222c5c2274656d706c61746549645c223a32303233313639307d220a7d0a"/>
          <p:cNvSpPr>
            <a:spLocks noGrp="1"/>
          </p:cNvSpPr>
          <p:nvPr>
            <p:ph idx="1"/>
          </p:nvPr>
        </p:nvSpPr>
        <p:spPr/>
        <p:txBody>
          <a:bodyPr>
            <a:normAutofit fontScale="70000"/>
          </a:bodyPr>
          <a:lstStyle/>
          <a:p>
            <a:pPr>
              <a:buBlip>
                <a:blip r:embed="rId1">
                  <a:extLst>
                    <a:ext uri="{96DAC541-7B7A-43D3-8B79-37D633B846F1}">
                      <asvg:svgBlip xmlns:asvg="http://schemas.microsoft.com/office/drawing/2016/SVG/main" r:embed="rId2"/>
                    </a:ext>
                  </a:extLst>
                </a:blip>
              </a:buBlip>
            </a:pP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ồ án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ã xây dựng thành công hệ thống Gom Shop với các chức n</a:t>
            </a:r>
            <a:r>
              <a:rPr lang="en-US" altLang="en-US">
                <a:latin typeface="Times New Roman" panose="02020603050405020304" charset="0"/>
                <a:cs typeface="Times New Roman" panose="02020603050405020304" charset="0"/>
              </a:rPr>
              <a:t>ă</a:t>
            </a:r>
            <a:r>
              <a:rPr lang="en-US" altLang="en-US">
                <a:latin typeface="Times New Roman" panose="02020603050405020304" charset="0"/>
                <a:cs typeface="Times New Roman" panose="02020603050405020304" charset="0"/>
              </a:rPr>
              <a:t>ng cơ bản của một website th</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ơng mại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iện tử nh</a:t>
            </a:r>
            <a:r>
              <a:rPr lang="en-US" altLang="en-US">
                <a:latin typeface="Times New Roman" panose="02020603050405020304" charset="0"/>
                <a:cs typeface="Times New Roman" panose="02020603050405020304" charset="0"/>
              </a:rPr>
              <a:t>ư đă</a:t>
            </a:r>
            <a:r>
              <a:rPr lang="en-US" altLang="en-US">
                <a:latin typeface="Times New Roman" panose="02020603050405020304" charset="0"/>
                <a:cs typeface="Times New Roman" panose="02020603050405020304" charset="0"/>
              </a:rPr>
              <a:t>ng k</a:t>
            </a:r>
            <a:r>
              <a:rPr lang="en-US" altLang="en-US">
                <a:latin typeface="Times New Roman" panose="02020603050405020304" charset="0"/>
                <a:cs typeface="Times New Roman" panose="02020603050405020304" charset="0"/>
              </a:rPr>
              <a:t>ý, đă</a:t>
            </a:r>
            <a:r>
              <a:rPr lang="en-US" altLang="en-US">
                <a:latin typeface="Times New Roman" panose="02020603050405020304" charset="0"/>
                <a:cs typeface="Times New Roman" panose="02020603050405020304" charset="0"/>
              </a:rPr>
              <a:t>ng nhập, quản l</a:t>
            </a:r>
            <a:r>
              <a:rPr lang="en-US" altLang="en-US">
                <a:latin typeface="Times New Roman" panose="02020603050405020304" charset="0"/>
                <a:cs typeface="Times New Roman" panose="02020603050405020304" charset="0"/>
              </a:rPr>
              <a:t>ý </a:t>
            </a:r>
            <a:r>
              <a:rPr lang="en-US" altLang="en-US">
                <a:latin typeface="Times New Roman" panose="02020603050405020304" charset="0"/>
                <a:cs typeface="Times New Roman" panose="02020603050405020304" charset="0"/>
              </a:rPr>
              <a:t>sản phẩm, giỏ hàng,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ặt hàng và phân quyền ng</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ời dùng.</a:t>
            </a:r>
            <a:endParaRPr lang="en-US" altLang="en-US">
              <a:latin typeface="Times New Roman" panose="02020603050405020304" charset="0"/>
              <a:cs typeface="Times New Roman" panose="02020603050405020304" charset="0"/>
            </a:endParaRPr>
          </a:p>
          <a:p>
            <a:pPr>
              <a:buBlip>
                <a:blip r:embed="rId1">
                  <a:extLst>
                    <a:ext uri="{96DAC541-7B7A-43D3-8B79-37D633B846F1}">
                      <asvg:svgBlip xmlns:asvg="http://schemas.microsoft.com/office/drawing/2016/SVG/main" r:embed="rId2"/>
                    </a:ext>
                  </a:extLst>
                </a:blip>
              </a:buBlip>
            </a:pPr>
            <a:r>
              <a:rPr lang="en-US" altLang="en-US">
                <a:latin typeface="Times New Roman" panose="02020603050405020304" charset="0"/>
                <a:cs typeface="Times New Roman" panose="02020603050405020304" charset="0"/>
              </a:rPr>
              <a:t>Hệ thống giúp ng</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ời dùng dễ dàng tìm kiếm và mua sắm sản phẩm,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ồng thời hỗ trợ ng</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ời bán và quản trị viên trong việc quản l</a:t>
            </a:r>
            <a:r>
              <a:rPr lang="en-US" altLang="en-US">
                <a:latin typeface="Times New Roman" panose="02020603050405020304" charset="0"/>
                <a:cs typeface="Times New Roman" panose="02020603050405020304" charset="0"/>
              </a:rPr>
              <a:t>ý </a:t>
            </a:r>
            <a:r>
              <a:rPr lang="en-US" altLang="en-US">
                <a:latin typeface="Times New Roman" panose="02020603050405020304" charset="0"/>
                <a:cs typeface="Times New Roman" panose="02020603050405020304" charset="0"/>
              </a:rPr>
              <a:t>hoạt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ộng kinh doanh.</a:t>
            </a:r>
            <a:endParaRPr lang="en-US" altLang="en-US">
              <a:latin typeface="Times New Roman" panose="02020603050405020304" charset="0"/>
              <a:cs typeface="Times New Roman" panose="02020603050405020304" charset="0"/>
            </a:endParaRPr>
          </a:p>
          <a:p>
            <a:pPr>
              <a:buBlip>
                <a:blip r:embed="rId1">
                  <a:extLst>
                    <a:ext uri="{96DAC541-7B7A-43D3-8B79-37D633B846F1}">
                      <asvg:svgBlip xmlns:asvg="http://schemas.microsoft.com/office/drawing/2016/SVG/main" r:embed="rId2"/>
                    </a:ext>
                  </a:extLst>
                </a:blip>
              </a:buBlip>
            </a:pPr>
            <a:r>
              <a:rPr lang="en-US" altLang="en-US">
                <a:latin typeface="Times New Roman" panose="02020603050405020304" charset="0"/>
                <a:cs typeface="Times New Roman" panose="02020603050405020304" charset="0"/>
              </a:rPr>
              <a:t>Trong quá trình thực hiện, nhóm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ã vận dụng các kiến thức về PHP, MySQL, HTML, CSS và JavaScript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ể phát triển một ứng dụng web hoàn chỉnh.</a:t>
            </a:r>
            <a:endParaRPr lang="en-US" altLang="en-US">
              <a:latin typeface="Times New Roman" panose="02020603050405020304" charset="0"/>
              <a:cs typeface="Times New Roman" panose="02020603050405020304" charset="0"/>
            </a:endParaRPr>
          </a:p>
          <a:p>
            <a:pPr>
              <a:buBlip>
                <a:blip r:embed="rId1">
                  <a:extLst>
                    <a:ext uri="{96DAC541-7B7A-43D3-8B79-37D633B846F1}">
                      <asvg:svgBlip xmlns:asvg="http://schemas.microsoft.com/office/drawing/2016/SVG/main" r:embed="rId2"/>
                    </a:ext>
                  </a:extLst>
                </a:blip>
              </a:buBlip>
            </a:pPr>
            <a:r>
              <a:rPr lang="en-US" altLang="en-US">
                <a:latin typeface="Times New Roman" panose="02020603050405020304" charset="0"/>
                <a:cs typeface="Times New Roman" panose="02020603050405020304" charset="0"/>
              </a:rPr>
              <a:t>Mặc dù vẫn còn một số hạn chế, dự án là nền tảng </a:t>
            </a:r>
            <a:r>
              <a:rPr lang="en-US" altLang="en-US">
                <a:latin typeface="Times New Roman" panose="02020603050405020304" charset="0"/>
                <a:cs typeface="Times New Roman" panose="02020603050405020304" charset="0"/>
              </a:rPr>
              <a:t>đ</a:t>
            </a:r>
            <a:r>
              <a:rPr lang="en-US" altLang="en-US">
                <a:latin typeface="Times New Roman" panose="02020603050405020304" charset="0"/>
                <a:cs typeface="Times New Roman" panose="02020603050405020304" charset="0"/>
              </a:rPr>
              <a:t>ể tiếp tục nghiên cứu và phát triển thêm nhiều tính n</a:t>
            </a:r>
            <a:r>
              <a:rPr lang="en-US" altLang="en-US">
                <a:latin typeface="Times New Roman" panose="02020603050405020304" charset="0"/>
                <a:cs typeface="Times New Roman" panose="02020603050405020304" charset="0"/>
              </a:rPr>
              <a:t>ă</a:t>
            </a:r>
            <a:r>
              <a:rPr lang="en-US" altLang="en-US">
                <a:latin typeface="Times New Roman" panose="02020603050405020304" charset="0"/>
                <a:cs typeface="Times New Roman" panose="02020603050405020304" charset="0"/>
              </a:rPr>
              <a:t>ng nâng cao trong t</a:t>
            </a:r>
            <a:r>
              <a:rPr lang="en-US" altLang="en-US">
                <a:latin typeface="Times New Roman" panose="02020603050405020304" charset="0"/>
                <a:cs typeface="Times New Roman" panose="02020603050405020304" charset="0"/>
              </a:rPr>
              <a:t>ư</a:t>
            </a:r>
            <a:r>
              <a:rPr lang="en-US" altLang="en-US">
                <a:latin typeface="Times New Roman" panose="02020603050405020304" charset="0"/>
                <a:cs typeface="Times New Roman" panose="02020603050405020304" charset="0"/>
              </a:rPr>
              <a:t>ơng lai.</a:t>
            </a:r>
            <a:endParaRPr lang="en-US" altLang="en-US">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build="p"/>
      <p:bldP spid="3" grpI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553085" y="741680"/>
            <a:ext cx="8297545" cy="4338955"/>
          </a:xfrm>
          <a:prstGeom prst="rect">
            <a:avLst/>
          </a:prstGeom>
        </p:spPr>
        <p:txBody>
          <a:bodyPr wrap="square">
            <a:noAutofit/>
          </a:bodyPr>
          <a:p>
            <a:pPr>
              <a:spcAft>
                <a:spcPct val="60000"/>
              </a:spcAft>
            </a:pPr>
            <a:r>
              <a:rPr sz="2800" b="1">
                <a:latin typeface="Times New Roman" panose="02020603050405020304" charset="0"/>
                <a:cs typeface="Times New Roman" panose="02020603050405020304" charset="0"/>
              </a:rPr>
              <a:t>XIN CHÂN THÀNH CẢM ƠN!</a:t>
            </a:r>
            <a:endParaRPr sz="2800" b="1">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Nhóm chúng em xin chân thành cảm ơn thầy/cô và các bạn đã dành thời gian lắng nghe bài thuyết trình.</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Rất mong nhận được những ý kiến đóng góp và nhận xét từ thầy/cô để nhóm có thể hoàn thiện đề tài tốt hơn.</a:t>
            </a:r>
            <a:endParaRPr sz="2800">
              <a:latin typeface="Times New Roman" panose="02020603050405020304" charset="0"/>
              <a:cs typeface="Times New Roman" panose="02020603050405020304" charset="0"/>
            </a:endParaRPr>
          </a:p>
          <a:p>
            <a:r>
              <a:rPr sz="2800">
                <a:latin typeface="Times New Roman" panose="02020603050405020304" charset="0"/>
                <a:cs typeface="Times New Roman" panose="02020603050405020304" charset="0"/>
              </a:rPr>
              <a:t>Xin trân trọng cảm ơn!</a:t>
            </a:r>
            <a:endParaRPr sz="2800">
              <a:latin typeface="Times New Roman" panose="02020603050405020304" charset="0"/>
              <a:cs typeface="Times New Roman" panose="0202060305040502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3">
            <a:schemeClr val="accent1"/>
          </a:lnRef>
          <a:fillRef idx="0">
            <a:srgbClr val="FFFFFF"/>
          </a:fillRef>
          <a:effectRef idx="0">
            <a:srgbClr val="FFFFFF"/>
          </a:effectRef>
          <a:fontRef idx="minor">
            <a:schemeClr val="tx1"/>
          </a:fontRef>
        </p:style>
        <p:txBody>
          <a:bodyPr>
            <a:normAutofit fontScale="90000"/>
          </a:bodyPr>
          <a:p>
            <a:r>
              <a:rPr lang="en-US"/>
              <a:t>Link source code và vidieo thuyết trình</a:t>
            </a:r>
            <a:endParaRPr lang="en-US"/>
          </a:p>
        </p:txBody>
      </p:sp>
      <p:sp>
        <p:nvSpPr>
          <p:cNvPr id="3" name="Content Placeholder 2"/>
          <p:cNvSpPr>
            <a:spLocks noGrp="1"/>
          </p:cNvSpPr>
          <p:nvPr>
            <p:ph idx="1"/>
          </p:nvPr>
        </p:nvSpPr>
        <p:spPr/>
        <p:txBody>
          <a:bodyPr/>
          <a:p>
            <a:pPr marL="0" indent="0">
              <a:buNone/>
            </a:pPr>
            <a:r>
              <a:rPr lang="en-US" altLang="en-US"/>
              <a:t>https://drive.google.com/drive/folders/1Fsdq9OcJyfei5YQAL_QReAmArTmLeIZV?usp=sharing</a:t>
            </a:r>
            <a:endParaRPr lang="en-US" altLang="en-US"/>
          </a:p>
        </p:txBody>
      </p:sp>
    </p:spTree>
  </p:cSld>
  <p:clrMapOvr>
    <a:masterClrMapping/>
  </p:clrMapOvr>
</p:sld>
</file>

<file path=ppt/tags/tag1.xml><?xml version="1.0" encoding="utf-8"?>
<p:tagLst xmlns:p="http://schemas.openxmlformats.org/presentationml/2006/main">
  <p:tag name="KSO_WM_UNIT_INDEX" val="1_2_5"/>
  <p:tag name="KSO_WM_UNIT_TYPE" val="l_h_f"/>
  <p:tag name="KSO_WM_UNIT_SUBTYPE" val="a"/>
  <p:tag name="KSO_WM_BEAUTIFY_FLAG" val="#wm#"/>
  <p:tag name="KSO_WM_TEMPLATE_CATEGORY" val="diagram"/>
  <p:tag name="KSO_WM_TEMPLATE_INDEX" val="19882022"/>
  <p:tag name="KSO_WM_UNIT_ID" val="diagram19882022*l_h_f*1_2_5"/>
  <p:tag name="KSO_WM_DIAGRAM_GROUP_CODE" val="l1-1"/>
  <p:tag name="KSO_WM_TAG_VERSION" val="2.0"/>
  <p:tag name="KSO_WM_DIAGRAM_VIRTUALLY_FRAME" val="{&quot;height&quot;:540,&quot;left&quot;:0.05,&quot;top&quot;:-0.05,&quot;width&quot;:720}"/>
</p:tagLst>
</file>

<file path=ppt/tags/tag2.xml><?xml version="1.0" encoding="utf-8"?>
<p:tagLst xmlns:p="http://schemas.openxmlformats.org/presentationml/2006/main">
  <p:tag name="KSO_WM_UNIT_INDEX" val="4"/>
  <p:tag name="KSO_WM_UNIT_TYPE" val="j"/>
  <p:tag name="KSO_WM_BEAUTIFY_FLAG" val="#wm#"/>
</p:tagLst>
</file>

<file path=ppt/tags/tag3.xml><?xml version="1.0" encoding="utf-8"?>
<p:tagLst xmlns:p="http://schemas.openxmlformats.org/presentationml/2006/main">
  <p:tag name="KSO_WM_SLIDE_TYPE" val="text"/>
  <p:tag name="KSO_WM_BEAUTIFY_FLAG" val="#wm#"/>
  <p:tag name="KSO_WM_SLIDE_THEME_ID" val="3326791"/>
  <p:tag name="KSO_WM_SLIDE_THEME_NAME" val="Green Fresh"/>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7021</Words>
  <Application>WPS Presentation</Application>
  <PresentationFormat>On-screen Show (4:3)</PresentationFormat>
  <Paragraphs>368</Paragraphs>
  <Slides>27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Arial</vt:lpstr>
      <vt:lpstr>SimSun</vt:lpstr>
      <vt:lpstr>Wingdings</vt:lpstr>
      <vt:lpstr>Arial</vt:lpstr>
      <vt:lpstr>Times New Roman</vt:lpstr>
      <vt:lpstr>Wingdings</vt:lpstr>
      <vt:lpstr>HP-Times New Roman</vt:lpstr>
      <vt:lpstr>Microsoft YaHei</vt:lpstr>
      <vt:lpstr>Arial Unicode MS</vt:lpstr>
      <vt:lpstr>Calibri</vt:lpstr>
      <vt:lpstr>Office Theme</vt:lpstr>
      <vt:lpstr>PowerPoint 演示文稿</vt:lpstr>
      <vt:lpstr>Giới thiệu đề tài</vt:lpstr>
      <vt:lpstr>Mục tiêu</vt:lpstr>
      <vt:lpstr>Phân tích tác nhân</vt:lpstr>
      <vt:lpstr>Use Case</vt:lpstr>
      <vt:lpstr>Kiến trúc hệ thống</vt:lpstr>
      <vt:lpstr>CSDL gom_shop</vt:lpstr>
      <vt:lpstr>Quan hệ dữ liệu</vt:lpstr>
      <vt:lpstr>PowerPoint 演示文稿</vt:lpstr>
      <vt:lpstr>PowerPoint 演示文稿</vt:lpstr>
      <vt:lpstr>PowerPoint 演示文稿</vt:lpstr>
      <vt:lpstr>Công nghệ sử dụng</vt:lpstr>
      <vt:lpstr>CẤU TRÚC HỆ THỐNG</vt:lpstr>
      <vt:lpstr>TRANG CHỦ</vt:lpstr>
      <vt:lpstr>MUA HÀNG</vt:lpstr>
      <vt:lpstr>GIỎ HÀNG</vt:lpstr>
      <vt:lpstr>ĐĂNG KÝ VÀ ĐĂNG NHẬP</vt:lpstr>
      <vt:lpstr>QUẢN LÝ ĐƠN HÀNG</vt:lpstr>
      <vt:lpstr>SHOP BÁN HÀNG</vt:lpstr>
      <vt:lpstr>QUẢN LÝ	</vt:lpstr>
      <vt:lpstr>QUẢN LÝ TÀI KHOẢN</vt:lpstr>
      <vt:lpstr>DOANH THU</vt:lpstr>
      <vt:lpstr>KẾT QUẢ THỰC NGHIỆM</vt:lpstr>
      <vt:lpstr>Hướng phát triển</vt:lpstr>
      <vt:lpstr>Kết luận</vt:lpstr>
      <vt:lpstr>PowerPoint 演示文稿</vt:lpstr>
      <vt:lpstr>Link source code và vidieo thuyết trình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văn kiệt nguyễn</cp:lastModifiedBy>
  <cp:revision>5</cp:revision>
  <dcterms:created xsi:type="dcterms:W3CDTF">2013-01-27T09:14:00Z</dcterms:created>
  <dcterms:modified xsi:type="dcterms:W3CDTF">2026-06-10T12:59:49Z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364D3758E0F34D65BB3DBA1EBBDFD409_13</vt:lpwstr>
  </property>
  <property fmtid="{D5CDD505-2E9C-101B-9397-08002B2CF9AE}" pid="3" name="KSOProductBuildVer">
    <vt:lpwstr>1033-12.1.0.26880</vt:lpwstr>
  </property>
</Properties>
</file>